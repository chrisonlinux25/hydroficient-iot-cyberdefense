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Nunito"/>
      <p:regular r:id="rId22"/>
      <p:bold r:id="rId23"/>
      <p:italic r:id="rId24"/>
      <p:boldItalic r:id="rId25"/>
    </p:embeddedFont>
    <p:embeddedFont>
      <p:font typeface="Inter"/>
      <p:regular r:id="rId26"/>
      <p:bold r:id="rId27"/>
      <p:italic r:id="rId28"/>
      <p:boldItalic r:id="rId29"/>
    </p:embeddedFont>
    <p:embeddedFont>
      <p:font typeface="Nunito Medium"/>
      <p:regular r:id="rId30"/>
      <p:bold r:id="rId31"/>
      <p:italic r:id="rId32"/>
      <p:boldItalic r:id="rId33"/>
    </p:embeddedFont>
    <p:embeddedFont>
      <p:font typeface="DM Serif Text"/>
      <p:regular r:id="rId34"/>
      <p:italic r:id="rId35"/>
    </p:embeddedFont>
    <p:embeddedFont>
      <p:font typeface="Inter Medium"/>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B9FD37A-7BF3-4518-908A-38AC28886C80}">
  <a:tblStyle styleId="{3B9FD37A-7BF3-4518-908A-38AC28886C80}"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Nunito-regular.fntdata"/><Relationship Id="rId21" Type="http://schemas.openxmlformats.org/officeDocument/2006/relationships/slide" Target="slides/slide15.xml"/><Relationship Id="rId24" Type="http://schemas.openxmlformats.org/officeDocument/2006/relationships/font" Target="fonts/Nunito-italic.fntdata"/><Relationship Id="rId23" Type="http://schemas.openxmlformats.org/officeDocument/2006/relationships/font" Target="fonts/Nuni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regular.fntdata"/><Relationship Id="rId25" Type="http://schemas.openxmlformats.org/officeDocument/2006/relationships/font" Target="fonts/Nunito-boldItalic.fntdata"/><Relationship Id="rId28" Type="http://schemas.openxmlformats.org/officeDocument/2006/relationships/font" Target="fonts/Inter-italic.fntdata"/><Relationship Id="rId27" Type="http://schemas.openxmlformats.org/officeDocument/2006/relationships/font" Target="fonts/Inter-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Inter-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NunitoMedium-bold.fntdata"/><Relationship Id="rId30" Type="http://schemas.openxmlformats.org/officeDocument/2006/relationships/font" Target="fonts/NunitoMedium-regular.fntdata"/><Relationship Id="rId11" Type="http://schemas.openxmlformats.org/officeDocument/2006/relationships/slide" Target="slides/slide5.xml"/><Relationship Id="rId33" Type="http://schemas.openxmlformats.org/officeDocument/2006/relationships/font" Target="fonts/NunitoMedium-boldItalic.fntdata"/><Relationship Id="rId10" Type="http://schemas.openxmlformats.org/officeDocument/2006/relationships/slide" Target="slides/slide4.xml"/><Relationship Id="rId32" Type="http://schemas.openxmlformats.org/officeDocument/2006/relationships/font" Target="fonts/NunitoMedium-italic.fntdata"/><Relationship Id="rId13" Type="http://schemas.openxmlformats.org/officeDocument/2006/relationships/slide" Target="slides/slide7.xml"/><Relationship Id="rId35" Type="http://schemas.openxmlformats.org/officeDocument/2006/relationships/font" Target="fonts/DMSerifText-italic.fntdata"/><Relationship Id="rId12" Type="http://schemas.openxmlformats.org/officeDocument/2006/relationships/slide" Target="slides/slide6.xml"/><Relationship Id="rId34" Type="http://schemas.openxmlformats.org/officeDocument/2006/relationships/font" Target="fonts/DMSerifText-regular.fntdata"/><Relationship Id="rId15" Type="http://schemas.openxmlformats.org/officeDocument/2006/relationships/slide" Target="slides/slide9.xml"/><Relationship Id="rId37" Type="http://schemas.openxmlformats.org/officeDocument/2006/relationships/font" Target="fonts/InterMedium-bold.fntdata"/><Relationship Id="rId14" Type="http://schemas.openxmlformats.org/officeDocument/2006/relationships/slide" Target="slides/slide8.xml"/><Relationship Id="rId36" Type="http://schemas.openxmlformats.org/officeDocument/2006/relationships/font" Target="fonts/InterMedium-regular.fntdata"/><Relationship Id="rId17" Type="http://schemas.openxmlformats.org/officeDocument/2006/relationships/slide" Target="slides/slide11.xml"/><Relationship Id="rId39" Type="http://schemas.openxmlformats.org/officeDocument/2006/relationships/font" Target="fonts/InterMedium-boldItalic.fntdata"/><Relationship Id="rId16" Type="http://schemas.openxmlformats.org/officeDocument/2006/relationships/slide" Target="slides/slide10.xml"/><Relationship Id="rId38" Type="http://schemas.openxmlformats.org/officeDocument/2006/relationships/font" Target="fonts/InterMedium-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cde5b6746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3cde5b6746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h5ecd002ed3eeb300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h5ecd002ed3eeb300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h5ecd002ed3eeb30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h5ecd002ed3eeb30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h2aaf1c334266c5e2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h2aaf1c334266c5e2_1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8.jpg"/><Relationship Id="rId5" Type="http://schemas.openxmlformats.org/officeDocument/2006/relationships/image" Target="../media/image10.png"/><Relationship Id="rId6"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drive.google.com/file/d/1Df9XuSr2qHZ-mqdG-Dj-O8KyUT66X3Uu/view" TargetMode="External"/><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drive.google.com/file/d/1GS0rzhbX069BnnO78Z9s83BQShpC9C1x/view" TargetMode="External"/><Relationship Id="rId4"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sp>
        <p:nvSpPr>
          <p:cNvPr id="84" name="Google Shape;84;p13"/>
          <p:cNvSpPr txBox="1"/>
          <p:nvPr/>
        </p:nvSpPr>
        <p:spPr>
          <a:xfrm>
            <a:off x="1371600" y="1097280"/>
            <a:ext cx="64008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3600" u="none" cap="none" strike="noStrike">
                <a:latin typeface="Nunito Medium"/>
                <a:ea typeface="Nunito Medium"/>
                <a:cs typeface="Nunito Medium"/>
                <a:sym typeface="Nunito Medium"/>
              </a:rPr>
              <a:t>IoT Security Capstone</a:t>
            </a:r>
            <a:endParaRPr>
              <a:latin typeface="Nunito Medium"/>
              <a:ea typeface="Nunito Medium"/>
              <a:cs typeface="Nunito Medium"/>
              <a:sym typeface="Nunito Medium"/>
            </a:endParaRPr>
          </a:p>
        </p:txBody>
      </p:sp>
      <p:sp>
        <p:nvSpPr>
          <p:cNvPr id="85" name="Google Shape;85;p13"/>
          <p:cNvSpPr txBox="1"/>
          <p:nvPr/>
        </p:nvSpPr>
        <p:spPr>
          <a:xfrm>
            <a:off x="1371600" y="2011680"/>
            <a:ext cx="6400800" cy="338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600" u="none" cap="none" strike="noStrike">
                <a:solidFill>
                  <a:srgbClr val="28A2D8"/>
                </a:solidFill>
                <a:latin typeface="Nunito"/>
                <a:ea typeface="Nunito"/>
                <a:cs typeface="Nunito"/>
                <a:sym typeface="Nunito"/>
              </a:rPr>
              <a:t>Experiment Results, Insights &amp; Recommendations</a:t>
            </a:r>
            <a:endParaRPr>
              <a:solidFill>
                <a:srgbClr val="28A2D8"/>
              </a:solidFill>
              <a:latin typeface="Nunito"/>
              <a:ea typeface="Nunito"/>
              <a:cs typeface="Nunito"/>
              <a:sym typeface="Nunito"/>
            </a:endParaRPr>
          </a:p>
        </p:txBody>
      </p:sp>
      <p:sp>
        <p:nvSpPr>
          <p:cNvPr id="86" name="Google Shape;86;p13"/>
          <p:cNvSpPr txBox="1"/>
          <p:nvPr/>
        </p:nvSpPr>
        <p:spPr>
          <a:xfrm>
            <a:off x="1371600" y="3200400"/>
            <a:ext cx="6400800" cy="692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300">
                <a:solidFill>
                  <a:srgbClr val="666666"/>
                </a:solidFill>
                <a:latin typeface="Nunito Medium"/>
                <a:ea typeface="Nunito Medium"/>
                <a:cs typeface="Nunito Medium"/>
                <a:sym typeface="Nunito Medium"/>
              </a:rPr>
              <a:t>IoT Cyber Defense Externship | 2026</a:t>
            </a:r>
            <a:endParaRPr sz="1300">
              <a:solidFill>
                <a:srgbClr val="666666"/>
              </a:solidFill>
              <a:latin typeface="Nunito Medium"/>
              <a:ea typeface="Nunito Medium"/>
              <a:cs typeface="Nunito Medium"/>
              <a:sym typeface="Nunito Medium"/>
            </a:endParaRPr>
          </a:p>
          <a:p>
            <a:pPr indent="0" lvl="0" marL="0" marR="0" rtl="0" algn="ctr">
              <a:spcBef>
                <a:spcPts val="0"/>
              </a:spcBef>
              <a:spcAft>
                <a:spcPts val="0"/>
              </a:spcAft>
              <a:buNone/>
            </a:pPr>
            <a:r>
              <a:rPr lang="en-US" sz="1300">
                <a:solidFill>
                  <a:srgbClr val="666666"/>
                </a:solidFill>
                <a:latin typeface="Nunito Medium"/>
                <a:ea typeface="Nunito Medium"/>
                <a:cs typeface="Nunito Medium"/>
                <a:sym typeface="Nunito Medium"/>
              </a:rPr>
              <a:t>Christine Khayat</a:t>
            </a:r>
            <a:r>
              <a:rPr lang="en-US" sz="1300">
                <a:solidFill>
                  <a:srgbClr val="666666"/>
                </a:solidFill>
                <a:latin typeface="Nunito Medium"/>
                <a:ea typeface="Nunito Medium"/>
                <a:cs typeface="Nunito Medium"/>
                <a:sym typeface="Nunito Medium"/>
              </a:rPr>
              <a:t> | </a:t>
            </a:r>
            <a:r>
              <a:rPr lang="en-US" sz="1300">
                <a:solidFill>
                  <a:srgbClr val="666666"/>
                </a:solidFill>
                <a:latin typeface="Nunito Medium"/>
                <a:ea typeface="Nunito Medium"/>
                <a:cs typeface="Nunito Medium"/>
                <a:sym typeface="Nunito Medium"/>
              </a:rPr>
              <a:t>Junior Cybersecurity Engineer </a:t>
            </a:r>
            <a:endParaRPr sz="1300">
              <a:solidFill>
                <a:srgbClr val="666666"/>
              </a:solidFill>
              <a:latin typeface="Nunito Medium"/>
              <a:ea typeface="Nunito Medium"/>
              <a:cs typeface="Nunito Medium"/>
              <a:sym typeface="Nunito Medium"/>
            </a:endParaRPr>
          </a:p>
          <a:p>
            <a:pPr indent="0" lvl="0" marL="0" marR="0" rtl="0" algn="ctr">
              <a:spcBef>
                <a:spcPts val="0"/>
              </a:spcBef>
              <a:spcAft>
                <a:spcPts val="0"/>
              </a:spcAft>
              <a:buNone/>
            </a:pPr>
            <a:r>
              <a:t/>
            </a:r>
            <a:endParaRPr sz="1300">
              <a:solidFill>
                <a:srgbClr val="666666"/>
              </a:solidFill>
              <a:latin typeface="Nunito Medium"/>
              <a:ea typeface="Nunito Medium"/>
              <a:cs typeface="Nunito Medium"/>
              <a:sym typeface="Nunito Medium"/>
            </a:endParaRPr>
          </a:p>
        </p:txBody>
      </p:sp>
      <p:sp>
        <p:nvSpPr>
          <p:cNvPr id="87" name="Google Shape;87;p13"/>
          <p:cNvSpPr/>
          <p:nvPr/>
        </p:nvSpPr>
        <p:spPr>
          <a:xfrm>
            <a:off x="3200400" y="2926080"/>
            <a:ext cx="2743200" cy="25400"/>
          </a:xfrm>
          <a:prstGeom prst="rect">
            <a:avLst/>
          </a:prstGeom>
          <a:solidFill>
            <a:srgbClr val="2CB2E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88" name="Google Shape;88;p13" title="hydroficient logo.png"/>
          <p:cNvPicPr preferRelativeResize="0"/>
          <p:nvPr/>
        </p:nvPicPr>
        <p:blipFill>
          <a:blip r:embed="rId3">
            <a:alphaModFix/>
          </a:blip>
          <a:stretch>
            <a:fillRect/>
          </a:stretch>
        </p:blipFill>
        <p:spPr>
          <a:xfrm>
            <a:off x="894500" y="626150"/>
            <a:ext cx="1200151" cy="12001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p:nvPr/>
        </p:nvSpPr>
        <p:spPr>
          <a:xfrm>
            <a:off x="365760" y="274320"/>
            <a:ext cx="457200" cy="320040"/>
          </a:xfrm>
          <a:prstGeom prst="roundRect">
            <a:avLst>
              <a:gd fmla="val 16667" name="adj"/>
            </a:avLst>
          </a:prstGeom>
          <a:solidFill>
            <a:srgbClr val="A64D7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Medium"/>
                <a:ea typeface="Inter Medium"/>
                <a:cs typeface="Inter Medium"/>
                <a:sym typeface="Inter Medium"/>
              </a:rPr>
              <a:t>01</a:t>
            </a:r>
            <a:endParaRPr/>
          </a:p>
        </p:txBody>
      </p:sp>
      <p:sp>
        <p:nvSpPr>
          <p:cNvPr id="94" name="Google Shape;94;p14"/>
          <p:cNvSpPr txBox="1"/>
          <p:nvPr/>
        </p:nvSpPr>
        <p:spPr>
          <a:xfrm>
            <a:off x="1005840" y="274320"/>
            <a:ext cx="7772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400" u="none" cap="none" strike="noStrike">
                <a:solidFill>
                  <a:srgbClr val="000000"/>
                </a:solidFill>
                <a:latin typeface="Nunito"/>
                <a:ea typeface="Nunito"/>
                <a:cs typeface="Nunito"/>
                <a:sym typeface="Nunito"/>
              </a:rPr>
              <a:t>The Threat: Unprotected IoT Pipelines</a:t>
            </a:r>
            <a:endParaRPr>
              <a:latin typeface="Nunito"/>
              <a:ea typeface="Nunito"/>
              <a:cs typeface="Nunito"/>
              <a:sym typeface="Nunito"/>
            </a:endParaRPr>
          </a:p>
        </p:txBody>
      </p:sp>
      <p:sp>
        <p:nvSpPr>
          <p:cNvPr id="95" name="Google Shape;95;p14"/>
          <p:cNvSpPr txBox="1"/>
          <p:nvPr/>
        </p:nvSpPr>
        <p:spPr>
          <a:xfrm>
            <a:off x="1005840" y="914400"/>
            <a:ext cx="7772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200" u="none" cap="none" strike="noStrike">
                <a:solidFill>
                  <a:srgbClr val="666666"/>
                </a:solidFill>
                <a:latin typeface="Nunito"/>
                <a:ea typeface="Nunito"/>
                <a:cs typeface="Nunito"/>
                <a:sym typeface="Nunito"/>
              </a:rPr>
              <a:t>What happens when MQTT messages travel without protection?</a:t>
            </a:r>
            <a:endParaRPr>
              <a:latin typeface="Nunito"/>
              <a:ea typeface="Nunito"/>
              <a:cs typeface="Nunito"/>
              <a:sym typeface="Nunito"/>
            </a:endParaRPr>
          </a:p>
        </p:txBody>
      </p:sp>
      <p:sp>
        <p:nvSpPr>
          <p:cNvPr id="96" name="Google Shape;96;p14"/>
          <p:cNvSpPr/>
          <p:nvPr/>
        </p:nvSpPr>
        <p:spPr>
          <a:xfrm>
            <a:off x="1005840" y="1645920"/>
            <a:ext cx="2286000" cy="2286000"/>
          </a:xfrm>
          <a:prstGeom prst="roundRect">
            <a:avLst>
              <a:gd fmla="val 16667" name="adj"/>
            </a:avLst>
          </a:prstGeom>
          <a:solidFill>
            <a:srgbClr val="F5F5F5"/>
          </a:solidFill>
          <a:ln cap="flat" cmpd="sng" w="25400">
            <a:solidFill>
              <a:srgbClr val="741B4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 name="Google Shape;97;p14"/>
          <p:cNvSpPr txBox="1"/>
          <p:nvPr/>
        </p:nvSpPr>
        <p:spPr>
          <a:xfrm>
            <a:off x="1188720" y="1828800"/>
            <a:ext cx="1920300" cy="338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600" u="none" cap="none" strike="noStrike">
                <a:solidFill>
                  <a:schemeClr val="dk1"/>
                </a:solidFill>
                <a:latin typeface="Nunito"/>
                <a:ea typeface="Nunito"/>
                <a:cs typeface="Nunito"/>
                <a:sym typeface="Nunito"/>
              </a:rPr>
              <a:t>Eavesdrop</a:t>
            </a:r>
            <a:endParaRPr b="1">
              <a:solidFill>
                <a:schemeClr val="dk1"/>
              </a:solidFill>
              <a:latin typeface="Nunito"/>
              <a:ea typeface="Nunito"/>
              <a:cs typeface="Nunito"/>
              <a:sym typeface="Nunito"/>
            </a:endParaRPr>
          </a:p>
        </p:txBody>
      </p:sp>
      <p:sp>
        <p:nvSpPr>
          <p:cNvPr id="98" name="Google Shape;98;p14"/>
          <p:cNvSpPr txBox="1"/>
          <p:nvPr/>
        </p:nvSpPr>
        <p:spPr>
          <a:xfrm>
            <a:off x="1188725" y="2167498"/>
            <a:ext cx="1920300" cy="19548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SzPts val="1100"/>
              <a:buNone/>
            </a:pPr>
            <a:r>
              <a:rPr lang="en-US" sz="1100">
                <a:solidFill>
                  <a:srgbClr val="666666"/>
                </a:solidFill>
                <a:latin typeface="Nunito"/>
                <a:ea typeface="Nunito"/>
                <a:cs typeface="Nunito"/>
                <a:sym typeface="Nunito"/>
              </a:rPr>
              <a:t>？An attacker intercepts data transmitted between IoT sensors and the system.</a:t>
            </a:r>
            <a:endParaRPr sz="1100">
              <a:solidFill>
                <a:srgbClr val="666666"/>
              </a:solidFill>
              <a:latin typeface="Nunito"/>
              <a:ea typeface="Nunito"/>
              <a:cs typeface="Nunito"/>
              <a:sym typeface="Nunito"/>
            </a:endParaRPr>
          </a:p>
          <a:p>
            <a:pPr indent="0" lvl="0" marL="0" rtl="0" algn="ctr">
              <a:spcBef>
                <a:spcPts val="0"/>
              </a:spcBef>
              <a:spcAft>
                <a:spcPts val="0"/>
              </a:spcAft>
              <a:buSzPts val="1100"/>
              <a:buNone/>
            </a:pPr>
            <a:r>
              <a:t/>
            </a:r>
            <a:endParaRPr sz="1100">
              <a:solidFill>
                <a:srgbClr val="666666"/>
              </a:solidFill>
              <a:latin typeface="Nunito"/>
              <a:ea typeface="Nunito"/>
              <a:cs typeface="Nunito"/>
              <a:sym typeface="Nunito"/>
            </a:endParaRPr>
          </a:p>
          <a:p>
            <a:pPr indent="0" lvl="0" marL="0" rtl="0" algn="ctr">
              <a:spcBef>
                <a:spcPts val="0"/>
              </a:spcBef>
              <a:spcAft>
                <a:spcPts val="0"/>
              </a:spcAft>
              <a:buClr>
                <a:schemeClr val="dk1"/>
              </a:buClr>
              <a:buSzPts val="1100"/>
              <a:buFont typeface="Arial"/>
              <a:buNone/>
            </a:pPr>
            <a:r>
              <a:rPr lang="en-US" sz="1100">
                <a:solidFill>
                  <a:srgbClr val="666666"/>
                </a:solidFill>
                <a:latin typeface="Nunito"/>
                <a:ea typeface="Nunito"/>
                <a:cs typeface="Nunito"/>
                <a:sym typeface="Nunito"/>
              </a:rPr>
              <a:t>⚠ Sensitive operational information can be exposed, allowing attackers to monitor system activity.</a:t>
            </a:r>
            <a:endParaRPr sz="1100">
              <a:solidFill>
                <a:srgbClr val="666666"/>
              </a:solidFill>
              <a:latin typeface="Nunito"/>
              <a:ea typeface="Nunito"/>
              <a:cs typeface="Nunito"/>
              <a:sym typeface="Nunito"/>
            </a:endParaRPr>
          </a:p>
          <a:p>
            <a:pPr indent="0" lvl="0" marL="0" marR="0" rtl="0" algn="ctr">
              <a:spcBef>
                <a:spcPts val="0"/>
              </a:spcBef>
              <a:spcAft>
                <a:spcPts val="0"/>
              </a:spcAft>
              <a:buNone/>
            </a:pPr>
            <a:r>
              <a:t/>
            </a:r>
            <a:endParaRPr sz="1100">
              <a:solidFill>
                <a:srgbClr val="666666"/>
              </a:solidFill>
              <a:latin typeface="Inter"/>
              <a:ea typeface="Inter"/>
              <a:cs typeface="Inter"/>
              <a:sym typeface="Inter"/>
            </a:endParaRPr>
          </a:p>
        </p:txBody>
      </p:sp>
      <p:sp>
        <p:nvSpPr>
          <p:cNvPr id="99" name="Google Shape;99;p14"/>
          <p:cNvSpPr/>
          <p:nvPr/>
        </p:nvSpPr>
        <p:spPr>
          <a:xfrm>
            <a:off x="3566160" y="1645920"/>
            <a:ext cx="2286000" cy="2286000"/>
          </a:xfrm>
          <a:prstGeom prst="roundRect">
            <a:avLst>
              <a:gd fmla="val 16667" name="adj"/>
            </a:avLst>
          </a:prstGeom>
          <a:solidFill>
            <a:srgbClr val="F5F5F5"/>
          </a:solidFill>
          <a:ln cap="flat" cmpd="sng" w="25400">
            <a:solidFill>
              <a:srgbClr val="A64D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0" name="Google Shape;100;p14"/>
          <p:cNvSpPr txBox="1"/>
          <p:nvPr/>
        </p:nvSpPr>
        <p:spPr>
          <a:xfrm>
            <a:off x="3749040" y="1828800"/>
            <a:ext cx="1920300" cy="338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600" u="none" cap="none" strike="noStrike">
                <a:solidFill>
                  <a:schemeClr val="dk1"/>
                </a:solidFill>
                <a:latin typeface="Nunito"/>
                <a:ea typeface="Nunito"/>
                <a:cs typeface="Nunito"/>
                <a:sym typeface="Nunito"/>
              </a:rPr>
              <a:t>Inject Fake Data</a:t>
            </a:r>
            <a:endParaRPr b="1">
              <a:solidFill>
                <a:schemeClr val="dk1"/>
              </a:solidFill>
              <a:latin typeface="Nunito"/>
              <a:ea typeface="Nunito"/>
              <a:cs typeface="Nunito"/>
              <a:sym typeface="Nunito"/>
            </a:endParaRPr>
          </a:p>
        </p:txBody>
      </p:sp>
      <p:sp>
        <p:nvSpPr>
          <p:cNvPr id="101" name="Google Shape;101;p14"/>
          <p:cNvSpPr txBox="1"/>
          <p:nvPr/>
        </p:nvSpPr>
        <p:spPr>
          <a:xfrm>
            <a:off x="3749050" y="2167516"/>
            <a:ext cx="1920300" cy="1616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SzPts val="1100"/>
              <a:buNone/>
            </a:pPr>
            <a:r>
              <a:rPr lang="en-US" sz="1100">
                <a:solidFill>
                  <a:srgbClr val="666666"/>
                </a:solidFill>
                <a:latin typeface="Nunito"/>
                <a:ea typeface="Nunito"/>
                <a:cs typeface="Nunito"/>
                <a:sym typeface="Nunito"/>
              </a:rPr>
              <a:t>？An attacker sends fake or modified sensor readings to the system.</a:t>
            </a:r>
            <a:endParaRPr sz="1100">
              <a:solidFill>
                <a:srgbClr val="666666"/>
              </a:solidFill>
              <a:latin typeface="Nunito"/>
              <a:ea typeface="Nunito"/>
              <a:cs typeface="Nunito"/>
              <a:sym typeface="Nunito"/>
            </a:endParaRPr>
          </a:p>
          <a:p>
            <a:pPr indent="0" lvl="0" marL="0" rtl="0" algn="ctr">
              <a:spcBef>
                <a:spcPts val="0"/>
              </a:spcBef>
              <a:spcAft>
                <a:spcPts val="0"/>
              </a:spcAft>
              <a:buClr>
                <a:schemeClr val="dk1"/>
              </a:buClr>
              <a:buSzPts val="1100"/>
              <a:buFont typeface="Arial"/>
              <a:buNone/>
            </a:pPr>
            <a:r>
              <a:t/>
            </a:r>
            <a:endParaRPr sz="1100">
              <a:solidFill>
                <a:srgbClr val="666666"/>
              </a:solidFill>
              <a:latin typeface="Nunito"/>
              <a:ea typeface="Nunito"/>
              <a:cs typeface="Nunito"/>
              <a:sym typeface="Nunito"/>
            </a:endParaRPr>
          </a:p>
          <a:p>
            <a:pPr indent="0" lvl="0" marL="0" rtl="0" algn="ctr">
              <a:spcBef>
                <a:spcPts val="0"/>
              </a:spcBef>
              <a:spcAft>
                <a:spcPts val="0"/>
              </a:spcAft>
              <a:buClr>
                <a:schemeClr val="dk1"/>
              </a:buClr>
              <a:buSzPts val="1100"/>
              <a:buFont typeface="Arial"/>
              <a:buNone/>
            </a:pPr>
            <a:r>
              <a:rPr lang="en-US" sz="1100">
                <a:solidFill>
                  <a:srgbClr val="666666"/>
                </a:solidFill>
                <a:latin typeface="Nunito"/>
                <a:ea typeface="Nunito"/>
                <a:cs typeface="Nunito"/>
                <a:sym typeface="Nunito"/>
              </a:rPr>
              <a:t>⚠ False readings can mislead operators, hide real problems, or trigger incorrect decisions.</a:t>
            </a:r>
            <a:endParaRPr sz="1100">
              <a:solidFill>
                <a:srgbClr val="666666"/>
              </a:solidFill>
              <a:latin typeface="Nunito"/>
              <a:ea typeface="Nunito"/>
              <a:cs typeface="Nunito"/>
              <a:sym typeface="Nunito"/>
            </a:endParaRPr>
          </a:p>
          <a:p>
            <a:pPr indent="0" lvl="0" marL="0" marR="0" rtl="0" algn="ctr">
              <a:spcBef>
                <a:spcPts val="0"/>
              </a:spcBef>
              <a:spcAft>
                <a:spcPts val="0"/>
              </a:spcAft>
              <a:buNone/>
            </a:pPr>
            <a:r>
              <a:t/>
            </a:r>
            <a:endParaRPr sz="1100">
              <a:solidFill>
                <a:srgbClr val="666666"/>
              </a:solidFill>
              <a:latin typeface="Inter"/>
              <a:ea typeface="Inter"/>
              <a:cs typeface="Inter"/>
              <a:sym typeface="Inter"/>
            </a:endParaRPr>
          </a:p>
        </p:txBody>
      </p:sp>
      <p:sp>
        <p:nvSpPr>
          <p:cNvPr id="102" name="Google Shape;102;p14"/>
          <p:cNvSpPr/>
          <p:nvPr/>
        </p:nvSpPr>
        <p:spPr>
          <a:xfrm>
            <a:off x="6126479" y="1645920"/>
            <a:ext cx="2286000" cy="2286000"/>
          </a:xfrm>
          <a:prstGeom prst="roundRect">
            <a:avLst>
              <a:gd fmla="val 16667" name="adj"/>
            </a:avLst>
          </a:prstGeom>
          <a:solidFill>
            <a:srgbClr val="F5F5F5"/>
          </a:solidFill>
          <a:ln cap="flat" cmpd="sng" w="25400">
            <a:solidFill>
              <a:srgbClr val="C27BA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14"/>
          <p:cNvSpPr txBox="1"/>
          <p:nvPr/>
        </p:nvSpPr>
        <p:spPr>
          <a:xfrm>
            <a:off x="6309359" y="1828800"/>
            <a:ext cx="1920300" cy="338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600" u="none" cap="none" strike="noStrike">
                <a:latin typeface="Nunito"/>
                <a:ea typeface="Nunito"/>
                <a:cs typeface="Nunito"/>
                <a:sym typeface="Nunito"/>
              </a:rPr>
              <a:t>Replay Attack</a:t>
            </a:r>
            <a:endParaRPr b="1">
              <a:latin typeface="Nunito"/>
              <a:ea typeface="Nunito"/>
              <a:cs typeface="Nunito"/>
              <a:sym typeface="Nunito"/>
            </a:endParaRPr>
          </a:p>
        </p:txBody>
      </p:sp>
      <p:sp>
        <p:nvSpPr>
          <p:cNvPr id="104" name="Google Shape;104;p14"/>
          <p:cNvSpPr txBox="1"/>
          <p:nvPr/>
        </p:nvSpPr>
        <p:spPr>
          <a:xfrm>
            <a:off x="6309275" y="2167517"/>
            <a:ext cx="1920300" cy="17856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SzPts val="1100"/>
              <a:buNone/>
            </a:pPr>
            <a:r>
              <a:rPr lang="en-US" sz="1100">
                <a:solidFill>
                  <a:srgbClr val="666666"/>
                </a:solidFill>
                <a:latin typeface="Nunito"/>
                <a:ea typeface="Nunito"/>
                <a:cs typeface="Nunito"/>
                <a:sym typeface="Nunito"/>
              </a:rPr>
              <a:t>？An attacker captures legitimate messages and retransmits them later.</a:t>
            </a:r>
            <a:endParaRPr sz="1100">
              <a:solidFill>
                <a:srgbClr val="666666"/>
              </a:solidFill>
              <a:latin typeface="Nunito"/>
              <a:ea typeface="Nunito"/>
              <a:cs typeface="Nunito"/>
              <a:sym typeface="Nunito"/>
            </a:endParaRPr>
          </a:p>
          <a:p>
            <a:pPr indent="0" lvl="0" marL="0" rtl="0" algn="ctr">
              <a:spcBef>
                <a:spcPts val="0"/>
              </a:spcBef>
              <a:spcAft>
                <a:spcPts val="0"/>
              </a:spcAft>
              <a:buClr>
                <a:schemeClr val="dk1"/>
              </a:buClr>
              <a:buSzPts val="1100"/>
              <a:buFont typeface="Arial"/>
              <a:buNone/>
            </a:pPr>
            <a:r>
              <a:t/>
            </a:r>
            <a:endParaRPr sz="1100">
              <a:solidFill>
                <a:srgbClr val="666666"/>
              </a:solidFill>
              <a:latin typeface="Nunito"/>
              <a:ea typeface="Nunito"/>
              <a:cs typeface="Nunito"/>
              <a:sym typeface="Nunito"/>
            </a:endParaRPr>
          </a:p>
          <a:p>
            <a:pPr indent="0" lvl="0" marL="0" rtl="0" algn="ctr">
              <a:spcBef>
                <a:spcPts val="0"/>
              </a:spcBef>
              <a:spcAft>
                <a:spcPts val="0"/>
              </a:spcAft>
              <a:buClr>
                <a:schemeClr val="dk1"/>
              </a:buClr>
              <a:buSzPts val="1100"/>
              <a:buFont typeface="Arial"/>
              <a:buNone/>
            </a:pPr>
            <a:r>
              <a:rPr lang="en-US" sz="1100">
                <a:solidFill>
                  <a:srgbClr val="666666"/>
                </a:solidFill>
                <a:latin typeface="Nunito"/>
                <a:ea typeface="Nunito"/>
                <a:cs typeface="Nunito"/>
                <a:sym typeface="Nunito"/>
              </a:rPr>
              <a:t>⚠ Old or previously valid data can be accepted as current, potentially disrupting system monitoring.</a:t>
            </a:r>
            <a:endParaRPr sz="1100">
              <a:solidFill>
                <a:srgbClr val="666666"/>
              </a:solidFill>
              <a:latin typeface="Nunito"/>
              <a:ea typeface="Nunito"/>
              <a:cs typeface="Nunito"/>
              <a:sym typeface="Nunito"/>
            </a:endParaRPr>
          </a:p>
          <a:p>
            <a:pPr indent="0" lvl="0" marL="0" marR="0" rtl="0" algn="ctr">
              <a:spcBef>
                <a:spcPts val="0"/>
              </a:spcBef>
              <a:spcAft>
                <a:spcPts val="0"/>
              </a:spcAft>
              <a:buNone/>
            </a:pPr>
            <a:r>
              <a:t/>
            </a:r>
            <a:endParaRPr sz="1100">
              <a:solidFill>
                <a:srgbClr val="666666"/>
              </a:solidFill>
              <a:latin typeface="Inter"/>
              <a:ea typeface="Inter"/>
              <a:cs typeface="Inter"/>
              <a:sym typeface="Inter"/>
            </a:endParaRPr>
          </a:p>
        </p:txBody>
      </p:sp>
      <p:sp>
        <p:nvSpPr>
          <p:cNvPr id="105" name="Google Shape;105;p14"/>
          <p:cNvSpPr txBox="1"/>
          <p:nvPr/>
        </p:nvSpPr>
        <p:spPr>
          <a:xfrm>
            <a:off x="1005840" y="4206240"/>
            <a:ext cx="7772400" cy="430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100">
                <a:solidFill>
                  <a:srgbClr val="FF2600"/>
                </a:solidFill>
                <a:latin typeface="Nunito"/>
                <a:ea typeface="Nunito"/>
                <a:cs typeface="Nunito"/>
                <a:sym typeface="Nunito"/>
              </a:rPr>
              <a:t>Key takeaway: </a:t>
            </a:r>
            <a:r>
              <a:rPr b="1" lang="en-US" sz="1100">
                <a:solidFill>
                  <a:schemeClr val="dk1"/>
                </a:solidFill>
                <a:latin typeface="Nunito"/>
                <a:ea typeface="Nunito"/>
                <a:cs typeface="Nunito"/>
                <a:sym typeface="Nunito"/>
              </a:rPr>
              <a:t>Without proper security controls, IoT messages can be intercepted, manipulated, or reused, putting the hotel’s water monitoring system at risk.</a:t>
            </a:r>
            <a:endParaRPr>
              <a:solidFill>
                <a:schemeClr val="dk1"/>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5"/>
          <p:cNvSpPr/>
          <p:nvPr/>
        </p:nvSpPr>
        <p:spPr>
          <a:xfrm>
            <a:off x="365760" y="274320"/>
            <a:ext cx="457200" cy="320040"/>
          </a:xfrm>
          <a:prstGeom prst="roundRect">
            <a:avLst>
              <a:gd fmla="val 16667" name="adj"/>
            </a:avLst>
          </a:prstGeom>
          <a:solidFill>
            <a:srgbClr val="A64D7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Medium"/>
                <a:ea typeface="Inter Medium"/>
                <a:cs typeface="Inter Medium"/>
                <a:sym typeface="Inter Medium"/>
              </a:rPr>
              <a:t>02</a:t>
            </a:r>
            <a:endParaRPr/>
          </a:p>
        </p:txBody>
      </p:sp>
      <p:sp>
        <p:nvSpPr>
          <p:cNvPr id="111" name="Google Shape;111;p15"/>
          <p:cNvSpPr txBox="1"/>
          <p:nvPr/>
        </p:nvSpPr>
        <p:spPr>
          <a:xfrm>
            <a:off x="1005840" y="274320"/>
            <a:ext cx="7772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000000"/>
                </a:solidFill>
                <a:latin typeface="Nunito"/>
                <a:ea typeface="Nunito"/>
                <a:cs typeface="Nunito"/>
                <a:sym typeface="Nunito"/>
              </a:rPr>
              <a:t>Defense Architecture: Four Layers of Protection</a:t>
            </a:r>
            <a:endParaRPr b="1">
              <a:latin typeface="Nunito"/>
              <a:ea typeface="Nunito"/>
              <a:cs typeface="Nunito"/>
              <a:sym typeface="Nunito"/>
            </a:endParaRPr>
          </a:p>
        </p:txBody>
      </p:sp>
      <p:sp>
        <p:nvSpPr>
          <p:cNvPr id="112" name="Google Shape;112;p15"/>
          <p:cNvSpPr txBox="1"/>
          <p:nvPr/>
        </p:nvSpPr>
        <p:spPr>
          <a:xfrm>
            <a:off x="685790" y="939513"/>
            <a:ext cx="7772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200" u="none" cap="none" strike="noStrike">
                <a:solidFill>
                  <a:srgbClr val="666666"/>
                </a:solidFill>
                <a:latin typeface="Nunito"/>
                <a:ea typeface="Nunito"/>
                <a:cs typeface="Nunito"/>
                <a:sym typeface="Nunito"/>
              </a:rPr>
              <a:t>Each layer catches what the previous one can't.</a:t>
            </a:r>
            <a:endParaRPr>
              <a:latin typeface="Nunito"/>
              <a:ea typeface="Nunito"/>
              <a:cs typeface="Nunito"/>
              <a:sym typeface="Nunito"/>
            </a:endParaRPr>
          </a:p>
        </p:txBody>
      </p:sp>
      <p:sp>
        <p:nvSpPr>
          <p:cNvPr id="113" name="Google Shape;113;p15"/>
          <p:cNvSpPr/>
          <p:nvPr/>
        </p:nvSpPr>
        <p:spPr>
          <a:xfrm>
            <a:off x="548650" y="1645925"/>
            <a:ext cx="1920300" cy="2462400"/>
          </a:xfrm>
          <a:prstGeom prst="roundRect">
            <a:avLst>
              <a:gd fmla="val 16667" name="adj"/>
            </a:avLst>
          </a:prstGeom>
          <a:solidFill>
            <a:srgbClr val="FFFFFF"/>
          </a:solidFill>
          <a:ln cap="flat" cmpd="sng" w="19050">
            <a:solidFill>
              <a:srgbClr val="07A65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 name="Google Shape;114;p15"/>
          <p:cNvSpPr/>
          <p:nvPr/>
        </p:nvSpPr>
        <p:spPr>
          <a:xfrm>
            <a:off x="1051560" y="1508760"/>
            <a:ext cx="914400" cy="274320"/>
          </a:xfrm>
          <a:prstGeom prst="roundRect">
            <a:avLst>
              <a:gd fmla="val 16667" name="adj"/>
            </a:avLst>
          </a:prstGeom>
          <a:solidFill>
            <a:srgbClr val="A64D7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900" u="none" cap="none" strike="noStrike">
                <a:solidFill>
                  <a:srgbClr val="FFFFFF"/>
                </a:solidFill>
                <a:latin typeface="Nunito"/>
                <a:ea typeface="Nunito"/>
                <a:cs typeface="Nunito"/>
                <a:sym typeface="Nunito"/>
              </a:rPr>
              <a:t>Defense 1</a:t>
            </a:r>
            <a:endParaRPr>
              <a:latin typeface="Nunito"/>
              <a:ea typeface="Nunito"/>
              <a:cs typeface="Nunito"/>
              <a:sym typeface="Nunito"/>
            </a:endParaRPr>
          </a:p>
        </p:txBody>
      </p:sp>
      <p:sp>
        <p:nvSpPr>
          <p:cNvPr id="115" name="Google Shape;115;p15"/>
          <p:cNvSpPr txBox="1"/>
          <p:nvPr/>
        </p:nvSpPr>
        <p:spPr>
          <a:xfrm>
            <a:off x="640080" y="1920240"/>
            <a:ext cx="1737300" cy="523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a:solidFill>
                  <a:srgbClr val="2550D0"/>
                </a:solidFill>
                <a:latin typeface="Nunito"/>
                <a:ea typeface="Nunito"/>
                <a:cs typeface="Nunito"/>
                <a:sym typeface="Nunito"/>
              </a:rPr>
              <a:t>TLS  Encrypted Communication</a:t>
            </a:r>
            <a:endParaRPr b="1" sz="1200">
              <a:latin typeface="Nunito"/>
              <a:ea typeface="Nunito"/>
              <a:cs typeface="Nunito"/>
              <a:sym typeface="Nunito"/>
            </a:endParaRPr>
          </a:p>
        </p:txBody>
      </p:sp>
      <p:sp>
        <p:nvSpPr>
          <p:cNvPr id="116" name="Google Shape;116;p15"/>
          <p:cNvSpPr txBox="1"/>
          <p:nvPr/>
        </p:nvSpPr>
        <p:spPr>
          <a:xfrm>
            <a:off x="640125" y="2420574"/>
            <a:ext cx="1737300" cy="19170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1100">
                <a:solidFill>
                  <a:srgbClr val="666666"/>
                </a:solidFill>
                <a:latin typeface="Nunito"/>
                <a:ea typeface="Nunito"/>
                <a:cs typeface="Nunito"/>
                <a:sym typeface="Nunito"/>
              </a:rPr>
              <a:t>Encrypts data between IoT devices and the broker, preventing attackers from reading intercepted traffic.</a:t>
            </a:r>
            <a:endParaRPr sz="1100">
              <a:solidFill>
                <a:srgbClr val="666666"/>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US" sz="1100">
                <a:latin typeface="Nunito"/>
                <a:ea typeface="Nunito"/>
                <a:cs typeface="Nunito"/>
                <a:sym typeface="Nunito"/>
              </a:rPr>
              <a:t>Protects against: </a:t>
            </a:r>
            <a:r>
              <a:rPr lang="en-US" sz="1100">
                <a:solidFill>
                  <a:srgbClr val="666666"/>
                </a:solidFill>
                <a:latin typeface="Nunito"/>
                <a:ea typeface="Nunito"/>
                <a:cs typeface="Nunito"/>
                <a:sym typeface="Nunito"/>
              </a:rPr>
              <a:t>Eavesdropping</a:t>
            </a:r>
            <a:endParaRPr sz="1100">
              <a:solidFill>
                <a:srgbClr val="666666"/>
              </a:solidFill>
              <a:latin typeface="Nunito"/>
              <a:ea typeface="Nunito"/>
              <a:cs typeface="Nunito"/>
              <a:sym typeface="Nunito"/>
            </a:endParaRPr>
          </a:p>
          <a:p>
            <a:pPr indent="0" lvl="0" marL="0" marR="0" rtl="0" algn="ctr">
              <a:spcBef>
                <a:spcPts val="1200"/>
              </a:spcBef>
              <a:spcAft>
                <a:spcPts val="0"/>
              </a:spcAft>
              <a:buNone/>
            </a:pPr>
            <a:r>
              <a:t/>
            </a:r>
            <a:endParaRPr sz="1000">
              <a:solidFill>
                <a:srgbClr val="666666"/>
              </a:solidFill>
              <a:latin typeface="Inter"/>
              <a:ea typeface="Inter"/>
              <a:cs typeface="Inter"/>
              <a:sym typeface="Inter"/>
            </a:endParaRPr>
          </a:p>
        </p:txBody>
      </p:sp>
      <p:sp>
        <p:nvSpPr>
          <p:cNvPr id="117" name="Google Shape;117;p15"/>
          <p:cNvSpPr txBox="1"/>
          <p:nvPr/>
        </p:nvSpPr>
        <p:spPr>
          <a:xfrm>
            <a:off x="2468880" y="2468880"/>
            <a:ext cx="22860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07A657"/>
                </a:solidFill>
                <a:latin typeface="Inter"/>
                <a:ea typeface="Inter"/>
                <a:cs typeface="Inter"/>
                <a:sym typeface="Inter"/>
              </a:rPr>
              <a:t>→</a:t>
            </a:r>
            <a:endParaRPr/>
          </a:p>
        </p:txBody>
      </p:sp>
      <p:sp>
        <p:nvSpPr>
          <p:cNvPr id="118" name="Google Shape;118;p15"/>
          <p:cNvSpPr/>
          <p:nvPr/>
        </p:nvSpPr>
        <p:spPr>
          <a:xfrm>
            <a:off x="2697475" y="1645925"/>
            <a:ext cx="1920300" cy="2858700"/>
          </a:xfrm>
          <a:prstGeom prst="roundRect">
            <a:avLst>
              <a:gd fmla="val 16667" name="adj"/>
            </a:avLst>
          </a:prstGeom>
          <a:solidFill>
            <a:srgbClr val="FFFFFF"/>
          </a:solidFill>
          <a:ln cap="flat" cmpd="sng" w="19050">
            <a:solidFill>
              <a:srgbClr val="07A65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9" name="Google Shape;119;p15"/>
          <p:cNvSpPr/>
          <p:nvPr/>
        </p:nvSpPr>
        <p:spPr>
          <a:xfrm>
            <a:off x="3200400" y="1508760"/>
            <a:ext cx="914400" cy="274320"/>
          </a:xfrm>
          <a:prstGeom prst="roundRect">
            <a:avLst>
              <a:gd fmla="val 16667" name="adj"/>
            </a:avLst>
          </a:prstGeom>
          <a:solidFill>
            <a:srgbClr val="A64D7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900" u="none" cap="none" strike="noStrike">
                <a:solidFill>
                  <a:srgbClr val="FFFFFF"/>
                </a:solidFill>
                <a:latin typeface="Nunito"/>
                <a:ea typeface="Nunito"/>
                <a:cs typeface="Nunito"/>
                <a:sym typeface="Nunito"/>
              </a:rPr>
              <a:t>Defense 2</a:t>
            </a:r>
            <a:endParaRPr>
              <a:latin typeface="Nunito"/>
              <a:ea typeface="Nunito"/>
              <a:cs typeface="Nunito"/>
              <a:sym typeface="Nunito"/>
            </a:endParaRPr>
          </a:p>
        </p:txBody>
      </p:sp>
      <p:sp>
        <p:nvSpPr>
          <p:cNvPr id="120" name="Google Shape;120;p15"/>
          <p:cNvSpPr txBox="1"/>
          <p:nvPr/>
        </p:nvSpPr>
        <p:spPr>
          <a:xfrm>
            <a:off x="2788945" y="1820990"/>
            <a:ext cx="1737300" cy="523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a:solidFill>
                  <a:srgbClr val="A64D79"/>
                </a:solidFill>
                <a:latin typeface="Nunito"/>
                <a:ea typeface="Nunito"/>
                <a:cs typeface="Nunito"/>
                <a:sym typeface="Nunito"/>
              </a:rPr>
              <a:t>mTLS Mutual Authentication</a:t>
            </a:r>
            <a:endParaRPr b="1" sz="1200">
              <a:solidFill>
                <a:srgbClr val="A64D79"/>
              </a:solidFill>
              <a:latin typeface="Nunito"/>
              <a:ea typeface="Nunito"/>
              <a:cs typeface="Nunito"/>
              <a:sym typeface="Nunito"/>
            </a:endParaRPr>
          </a:p>
        </p:txBody>
      </p:sp>
      <p:sp>
        <p:nvSpPr>
          <p:cNvPr id="121" name="Google Shape;121;p15"/>
          <p:cNvSpPr txBox="1"/>
          <p:nvPr/>
        </p:nvSpPr>
        <p:spPr>
          <a:xfrm>
            <a:off x="2788950" y="2347923"/>
            <a:ext cx="1737300" cy="25011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1100">
                <a:solidFill>
                  <a:srgbClr val="666666"/>
                </a:solidFill>
                <a:latin typeface="Nunito"/>
                <a:ea typeface="Nunito"/>
                <a:cs typeface="Nunito"/>
                <a:sym typeface="Nunito"/>
              </a:rPr>
              <a:t>Requires both the broker and each device to prove their identity using trusted certificates, blocking unauthorized devices.</a:t>
            </a:r>
            <a:endParaRPr sz="1100">
              <a:solidFill>
                <a:srgbClr val="666666"/>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US" sz="1100">
                <a:latin typeface="Nunito"/>
                <a:ea typeface="Nunito"/>
                <a:cs typeface="Nunito"/>
                <a:sym typeface="Nunito"/>
              </a:rPr>
              <a:t>Protects against: </a:t>
            </a:r>
            <a:r>
              <a:rPr lang="en-US" sz="1100">
                <a:solidFill>
                  <a:srgbClr val="666666"/>
                </a:solidFill>
                <a:latin typeface="Nunito"/>
                <a:ea typeface="Nunito"/>
                <a:cs typeface="Nunito"/>
                <a:sym typeface="Nunito"/>
              </a:rPr>
              <a:t>Unauthorized connections and device impersonation</a:t>
            </a:r>
            <a:endParaRPr sz="1100">
              <a:solidFill>
                <a:srgbClr val="666666"/>
              </a:solidFill>
              <a:latin typeface="Nunito"/>
              <a:ea typeface="Nunito"/>
              <a:cs typeface="Nunito"/>
              <a:sym typeface="Nunito"/>
            </a:endParaRPr>
          </a:p>
          <a:p>
            <a:pPr indent="0" lvl="0" marL="0" marR="0" rtl="0" algn="ctr">
              <a:spcBef>
                <a:spcPts val="1200"/>
              </a:spcBef>
              <a:spcAft>
                <a:spcPts val="0"/>
              </a:spcAft>
              <a:buNone/>
            </a:pPr>
            <a:r>
              <a:t/>
            </a:r>
            <a:endParaRPr sz="1000">
              <a:solidFill>
                <a:srgbClr val="666666"/>
              </a:solidFill>
              <a:latin typeface="Inter"/>
              <a:ea typeface="Inter"/>
              <a:cs typeface="Inter"/>
              <a:sym typeface="Inter"/>
            </a:endParaRPr>
          </a:p>
        </p:txBody>
      </p:sp>
      <p:sp>
        <p:nvSpPr>
          <p:cNvPr id="122" name="Google Shape;122;p15"/>
          <p:cNvSpPr txBox="1"/>
          <p:nvPr/>
        </p:nvSpPr>
        <p:spPr>
          <a:xfrm>
            <a:off x="4617720" y="2468880"/>
            <a:ext cx="22860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07A657"/>
                </a:solidFill>
                <a:latin typeface="Inter"/>
                <a:ea typeface="Inter"/>
                <a:cs typeface="Inter"/>
                <a:sym typeface="Inter"/>
              </a:rPr>
              <a:t>→</a:t>
            </a:r>
            <a:endParaRPr/>
          </a:p>
        </p:txBody>
      </p:sp>
      <p:sp>
        <p:nvSpPr>
          <p:cNvPr id="123" name="Google Shape;123;p15"/>
          <p:cNvSpPr/>
          <p:nvPr/>
        </p:nvSpPr>
        <p:spPr>
          <a:xfrm>
            <a:off x="4846325" y="1645925"/>
            <a:ext cx="1920300" cy="2462400"/>
          </a:xfrm>
          <a:prstGeom prst="roundRect">
            <a:avLst>
              <a:gd fmla="val 16667" name="adj"/>
            </a:avLst>
          </a:prstGeom>
          <a:solidFill>
            <a:srgbClr val="FFFFFF"/>
          </a:solidFill>
          <a:ln cap="flat" cmpd="sng" w="19050">
            <a:solidFill>
              <a:srgbClr val="07A65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 name="Google Shape;124;p15"/>
          <p:cNvSpPr/>
          <p:nvPr/>
        </p:nvSpPr>
        <p:spPr>
          <a:xfrm>
            <a:off x="5349240" y="1508760"/>
            <a:ext cx="914400" cy="274320"/>
          </a:xfrm>
          <a:prstGeom prst="roundRect">
            <a:avLst>
              <a:gd fmla="val 16667" name="adj"/>
            </a:avLst>
          </a:prstGeom>
          <a:solidFill>
            <a:srgbClr val="A64D7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900" u="none" cap="none" strike="noStrike">
                <a:solidFill>
                  <a:srgbClr val="FFFFFF"/>
                </a:solidFill>
                <a:latin typeface="Nunito"/>
                <a:ea typeface="Nunito"/>
                <a:cs typeface="Nunito"/>
                <a:sym typeface="Nunito"/>
              </a:rPr>
              <a:t>Defense 3</a:t>
            </a:r>
            <a:endParaRPr>
              <a:latin typeface="Nunito"/>
              <a:ea typeface="Nunito"/>
              <a:cs typeface="Nunito"/>
              <a:sym typeface="Nunito"/>
            </a:endParaRPr>
          </a:p>
        </p:txBody>
      </p:sp>
      <p:sp>
        <p:nvSpPr>
          <p:cNvPr id="125" name="Google Shape;125;p15"/>
          <p:cNvSpPr txBox="1"/>
          <p:nvPr/>
        </p:nvSpPr>
        <p:spPr>
          <a:xfrm>
            <a:off x="4937750" y="1897373"/>
            <a:ext cx="1737300" cy="523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a:solidFill>
                  <a:srgbClr val="2550D0"/>
                </a:solidFill>
                <a:latin typeface="Nunito"/>
                <a:ea typeface="Nunito"/>
                <a:cs typeface="Nunito"/>
                <a:sym typeface="Nunito"/>
              </a:rPr>
              <a:t>HMAC-SHA256  Message Integrity</a:t>
            </a:r>
            <a:endParaRPr b="1" sz="1200">
              <a:latin typeface="Nunito"/>
              <a:ea typeface="Nunito"/>
              <a:cs typeface="Nunito"/>
              <a:sym typeface="Nunito"/>
            </a:endParaRPr>
          </a:p>
        </p:txBody>
      </p:sp>
      <p:sp>
        <p:nvSpPr>
          <p:cNvPr id="126" name="Google Shape;126;p15"/>
          <p:cNvSpPr txBox="1"/>
          <p:nvPr/>
        </p:nvSpPr>
        <p:spPr>
          <a:xfrm>
            <a:off x="4937797" y="2347920"/>
            <a:ext cx="1737300" cy="20409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1200">
                <a:solidFill>
                  <a:srgbClr val="666666"/>
                </a:solidFill>
                <a:latin typeface="Nunito"/>
                <a:ea typeface="Nunito"/>
                <a:cs typeface="Nunito"/>
                <a:sym typeface="Nunito"/>
              </a:rPr>
              <a:t>Verifies that messages come from a trusted source and have not been modified in transit.</a:t>
            </a:r>
            <a:endParaRPr sz="1200">
              <a:solidFill>
                <a:srgbClr val="666666"/>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US" sz="1200">
                <a:latin typeface="Nunito"/>
                <a:ea typeface="Nunito"/>
                <a:cs typeface="Nunito"/>
                <a:sym typeface="Nunito"/>
              </a:rPr>
              <a:t>Protects against: </a:t>
            </a:r>
            <a:r>
              <a:rPr lang="en-US" sz="1200">
                <a:solidFill>
                  <a:srgbClr val="666666"/>
                </a:solidFill>
                <a:latin typeface="Nunito"/>
                <a:ea typeface="Nunito"/>
                <a:cs typeface="Nunito"/>
                <a:sym typeface="Nunito"/>
              </a:rPr>
              <a:t>Message tampering</a:t>
            </a:r>
            <a:endParaRPr sz="1200">
              <a:solidFill>
                <a:srgbClr val="666666"/>
              </a:solidFill>
              <a:latin typeface="Nunito"/>
              <a:ea typeface="Nunito"/>
              <a:cs typeface="Nunito"/>
              <a:sym typeface="Nunito"/>
            </a:endParaRPr>
          </a:p>
          <a:p>
            <a:pPr indent="0" lvl="0" marL="0" marR="0" rtl="0" algn="ctr">
              <a:spcBef>
                <a:spcPts val="1200"/>
              </a:spcBef>
              <a:spcAft>
                <a:spcPts val="0"/>
              </a:spcAft>
              <a:buNone/>
            </a:pPr>
            <a:r>
              <a:t/>
            </a:r>
            <a:endParaRPr sz="1000">
              <a:solidFill>
                <a:srgbClr val="666666"/>
              </a:solidFill>
              <a:latin typeface="Inter"/>
              <a:ea typeface="Inter"/>
              <a:cs typeface="Inter"/>
              <a:sym typeface="Inter"/>
            </a:endParaRPr>
          </a:p>
        </p:txBody>
      </p:sp>
      <p:sp>
        <p:nvSpPr>
          <p:cNvPr id="127" name="Google Shape;127;p15"/>
          <p:cNvSpPr txBox="1"/>
          <p:nvPr/>
        </p:nvSpPr>
        <p:spPr>
          <a:xfrm>
            <a:off x="6766560" y="2468880"/>
            <a:ext cx="22860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07A657"/>
                </a:solidFill>
                <a:latin typeface="Inter"/>
                <a:ea typeface="Inter"/>
                <a:cs typeface="Inter"/>
                <a:sym typeface="Inter"/>
              </a:rPr>
              <a:t>→</a:t>
            </a:r>
            <a:endParaRPr/>
          </a:p>
        </p:txBody>
      </p:sp>
      <p:sp>
        <p:nvSpPr>
          <p:cNvPr id="128" name="Google Shape;128;p15"/>
          <p:cNvSpPr/>
          <p:nvPr/>
        </p:nvSpPr>
        <p:spPr>
          <a:xfrm>
            <a:off x="6995150" y="1645925"/>
            <a:ext cx="1920300" cy="2858700"/>
          </a:xfrm>
          <a:prstGeom prst="roundRect">
            <a:avLst>
              <a:gd fmla="val 16667" name="adj"/>
            </a:avLst>
          </a:prstGeom>
          <a:solidFill>
            <a:srgbClr val="FFFFFF"/>
          </a:solidFill>
          <a:ln cap="flat" cmpd="sng" w="19050">
            <a:solidFill>
              <a:srgbClr val="07A65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9" name="Google Shape;129;p15"/>
          <p:cNvSpPr/>
          <p:nvPr/>
        </p:nvSpPr>
        <p:spPr>
          <a:xfrm>
            <a:off x="7498080" y="1508760"/>
            <a:ext cx="914400" cy="274320"/>
          </a:xfrm>
          <a:prstGeom prst="roundRect">
            <a:avLst>
              <a:gd fmla="val 16667" name="adj"/>
            </a:avLst>
          </a:prstGeom>
          <a:solidFill>
            <a:srgbClr val="A64D7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900" u="none" cap="none" strike="noStrike">
                <a:solidFill>
                  <a:srgbClr val="FFFFFF"/>
                </a:solidFill>
                <a:latin typeface="Nunito"/>
                <a:ea typeface="Nunito"/>
                <a:cs typeface="Nunito"/>
                <a:sym typeface="Nunito"/>
              </a:rPr>
              <a:t>Defense 4</a:t>
            </a:r>
            <a:endParaRPr>
              <a:latin typeface="Nunito"/>
              <a:ea typeface="Nunito"/>
              <a:cs typeface="Nunito"/>
              <a:sym typeface="Nunito"/>
            </a:endParaRPr>
          </a:p>
        </p:txBody>
      </p:sp>
      <p:sp>
        <p:nvSpPr>
          <p:cNvPr id="130" name="Google Shape;130;p15"/>
          <p:cNvSpPr txBox="1"/>
          <p:nvPr/>
        </p:nvSpPr>
        <p:spPr>
          <a:xfrm>
            <a:off x="7086575" y="1783065"/>
            <a:ext cx="1737300" cy="954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a:solidFill>
                  <a:srgbClr val="A64D79"/>
                </a:solidFill>
                <a:latin typeface="Nunito"/>
                <a:ea typeface="Nunito"/>
                <a:cs typeface="Nunito"/>
                <a:sym typeface="Nunito"/>
              </a:rPr>
              <a:t>Timestamps &amp; Sequence Counters Replay Protection</a:t>
            </a:r>
            <a:endParaRPr b="1">
              <a:solidFill>
                <a:srgbClr val="A64D79"/>
              </a:solidFill>
              <a:latin typeface="Nunito"/>
              <a:ea typeface="Nunito"/>
              <a:cs typeface="Nunito"/>
              <a:sym typeface="Nunito"/>
            </a:endParaRPr>
          </a:p>
        </p:txBody>
      </p:sp>
      <p:sp>
        <p:nvSpPr>
          <p:cNvPr id="131" name="Google Shape;131;p15"/>
          <p:cNvSpPr txBox="1"/>
          <p:nvPr/>
        </p:nvSpPr>
        <p:spPr>
          <a:xfrm>
            <a:off x="7086575" y="2674599"/>
            <a:ext cx="1737300" cy="20709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1100">
                <a:solidFill>
                  <a:srgbClr val="666666"/>
                </a:solidFill>
                <a:latin typeface="Nunito"/>
                <a:ea typeface="Nunito"/>
                <a:cs typeface="Nunito"/>
                <a:sym typeface="Nunito"/>
              </a:rPr>
              <a:t>Checks message freshness and order to detect old, duplicated, or out-of-sequence messages.</a:t>
            </a:r>
            <a:endParaRPr sz="1100">
              <a:solidFill>
                <a:srgbClr val="666666"/>
              </a:solidFill>
              <a:latin typeface="Nunito"/>
              <a:ea typeface="Nunito"/>
              <a:cs typeface="Nunito"/>
              <a:sym typeface="Nunito"/>
            </a:endParaRPr>
          </a:p>
          <a:p>
            <a:pPr indent="0" lvl="0" marL="0" rtl="0" algn="l">
              <a:lnSpc>
                <a:spcPct val="115000"/>
              </a:lnSpc>
              <a:spcBef>
                <a:spcPts val="1200"/>
              </a:spcBef>
              <a:spcAft>
                <a:spcPts val="0"/>
              </a:spcAft>
              <a:buSzPts val="1100"/>
              <a:buNone/>
            </a:pPr>
            <a:r>
              <a:rPr lang="en-US" sz="1100">
                <a:solidFill>
                  <a:schemeClr val="dk1"/>
                </a:solidFill>
                <a:latin typeface="Nunito"/>
                <a:ea typeface="Nunito"/>
                <a:cs typeface="Nunito"/>
                <a:sym typeface="Nunito"/>
              </a:rPr>
              <a:t>Protects against: </a:t>
            </a:r>
            <a:endParaRPr sz="11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US" sz="1100">
                <a:solidFill>
                  <a:srgbClr val="666666"/>
                </a:solidFill>
                <a:latin typeface="Nunito"/>
                <a:ea typeface="Nunito"/>
                <a:cs typeface="Nunito"/>
                <a:sym typeface="Nunito"/>
              </a:rPr>
              <a:t>Replay attacks</a:t>
            </a:r>
            <a:endParaRPr sz="1100">
              <a:solidFill>
                <a:srgbClr val="666666"/>
              </a:solidFill>
              <a:latin typeface="Nunito"/>
              <a:ea typeface="Nunito"/>
              <a:cs typeface="Nunito"/>
              <a:sym typeface="Nunito"/>
            </a:endParaRPr>
          </a:p>
          <a:p>
            <a:pPr indent="0" lvl="0" marL="0" marR="0" rtl="0" algn="ctr">
              <a:spcBef>
                <a:spcPts val="1200"/>
              </a:spcBef>
              <a:spcAft>
                <a:spcPts val="0"/>
              </a:spcAft>
              <a:buNone/>
            </a:pPr>
            <a:r>
              <a:t/>
            </a:r>
            <a:endParaRPr sz="1000">
              <a:solidFill>
                <a:srgbClr val="666666"/>
              </a:solidFill>
              <a:latin typeface="Inter"/>
              <a:ea typeface="Inter"/>
              <a:cs typeface="Inter"/>
              <a:sym typeface="Inter"/>
            </a:endParaRPr>
          </a:p>
        </p:txBody>
      </p:sp>
      <p:sp>
        <p:nvSpPr>
          <p:cNvPr id="132" name="Google Shape;132;p15"/>
          <p:cNvSpPr txBox="1"/>
          <p:nvPr/>
        </p:nvSpPr>
        <p:spPr>
          <a:xfrm>
            <a:off x="548690" y="4567505"/>
            <a:ext cx="8046600" cy="430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666666"/>
                </a:solidFill>
                <a:latin typeface="Inter"/>
                <a:ea typeface="Inter"/>
                <a:cs typeface="Inter"/>
                <a:sym typeface="Inter"/>
              </a:rPr>
              <a:t>Each defense addresses a different security weakness. Encryption alone cannot prove a device is authorized or prevent a valid message from being replayed. Combining the layers provides stronger protection.</a:t>
            </a:r>
            <a:endParaRPr/>
          </a:p>
        </p:txBody>
      </p:sp>
      <p:pic>
        <p:nvPicPr>
          <p:cNvPr descr="Lock and Key Icon Svg, Lock Png, Lock Jpg,lock Eps,lock Pdf,lock Dxf, Lock Cut File, Lock Vector,lock Clipart - Etsy" id="133" name="Google Shape;133;p15"/>
          <p:cNvPicPr preferRelativeResize="0"/>
          <p:nvPr/>
        </p:nvPicPr>
        <p:blipFill rotWithShape="1">
          <a:blip r:embed="rId3">
            <a:alphaModFix/>
          </a:blip>
          <a:srcRect b="10398" l="27286" r="25546" t="10706"/>
          <a:stretch/>
        </p:blipFill>
        <p:spPr>
          <a:xfrm>
            <a:off x="640600" y="1928700"/>
            <a:ext cx="228600" cy="307809"/>
          </a:xfrm>
          <a:prstGeom prst="rect">
            <a:avLst/>
          </a:prstGeom>
          <a:noFill/>
          <a:ln>
            <a:noFill/>
          </a:ln>
        </p:spPr>
      </p:pic>
      <p:pic>
        <p:nvPicPr>
          <p:cNvPr descr="Shield - Free icons" id="134" name="Google Shape;134;p15"/>
          <p:cNvPicPr preferRelativeResize="0"/>
          <p:nvPr/>
        </p:nvPicPr>
        <p:blipFill>
          <a:blip r:embed="rId4">
            <a:alphaModFix/>
          </a:blip>
          <a:stretch>
            <a:fillRect/>
          </a:stretch>
        </p:blipFill>
        <p:spPr>
          <a:xfrm>
            <a:off x="2789175" y="1928700"/>
            <a:ext cx="228600" cy="228600"/>
          </a:xfrm>
          <a:prstGeom prst="rect">
            <a:avLst/>
          </a:prstGeom>
          <a:noFill/>
          <a:ln>
            <a:noFill/>
          </a:ln>
        </p:spPr>
      </p:pic>
      <p:pic>
        <p:nvPicPr>
          <p:cNvPr descr="Fingerprint - Free interface icons" id="135" name="Google Shape;135;p15"/>
          <p:cNvPicPr preferRelativeResize="0"/>
          <p:nvPr/>
        </p:nvPicPr>
        <p:blipFill rotWithShape="1">
          <a:blip r:embed="rId5">
            <a:alphaModFix/>
          </a:blip>
          <a:srcRect b="0" l="4165" r="5297" t="0"/>
          <a:stretch/>
        </p:blipFill>
        <p:spPr>
          <a:xfrm>
            <a:off x="4937863" y="1916738"/>
            <a:ext cx="228600" cy="252500"/>
          </a:xfrm>
          <a:prstGeom prst="rect">
            <a:avLst/>
          </a:prstGeom>
          <a:noFill/>
          <a:ln>
            <a:noFill/>
          </a:ln>
        </p:spPr>
      </p:pic>
      <p:pic>
        <p:nvPicPr>
          <p:cNvPr descr="Unix Timestamp Converter - Visual Studio Marketplace" id="136" name="Google Shape;136;p15"/>
          <p:cNvPicPr preferRelativeResize="0"/>
          <p:nvPr/>
        </p:nvPicPr>
        <p:blipFill>
          <a:blip r:embed="rId6">
            <a:alphaModFix/>
          </a:blip>
          <a:stretch>
            <a:fillRect/>
          </a:stretch>
        </p:blipFill>
        <p:spPr>
          <a:xfrm>
            <a:off x="7086650" y="1944148"/>
            <a:ext cx="276900" cy="2769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6"/>
          <p:cNvSpPr/>
          <p:nvPr/>
        </p:nvSpPr>
        <p:spPr>
          <a:xfrm>
            <a:off x="365760" y="274320"/>
            <a:ext cx="457200" cy="320040"/>
          </a:xfrm>
          <a:prstGeom prst="roundRect">
            <a:avLst>
              <a:gd fmla="val 16667" name="adj"/>
            </a:avLst>
          </a:prstGeom>
          <a:solidFill>
            <a:srgbClr val="A64D7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Medium"/>
                <a:ea typeface="Inter Medium"/>
                <a:cs typeface="Inter Medium"/>
                <a:sym typeface="Inter Medium"/>
              </a:rPr>
              <a:t>03</a:t>
            </a:r>
            <a:endParaRPr/>
          </a:p>
        </p:txBody>
      </p:sp>
      <p:sp>
        <p:nvSpPr>
          <p:cNvPr id="142" name="Google Shape;142;p16"/>
          <p:cNvSpPr txBox="1"/>
          <p:nvPr/>
        </p:nvSpPr>
        <p:spPr>
          <a:xfrm>
            <a:off x="1005840" y="274320"/>
            <a:ext cx="7772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000000"/>
                </a:solidFill>
                <a:latin typeface="Nunito"/>
                <a:ea typeface="Nunito"/>
                <a:cs typeface="Nunito"/>
                <a:sym typeface="Nunito"/>
              </a:rPr>
              <a:t>Experiment Setup: Three-Phase Attack Simulator</a:t>
            </a:r>
            <a:endParaRPr b="1">
              <a:latin typeface="Nunito"/>
              <a:ea typeface="Nunito"/>
              <a:cs typeface="Nunito"/>
              <a:sym typeface="Nunito"/>
            </a:endParaRPr>
          </a:p>
        </p:txBody>
      </p:sp>
      <p:sp>
        <p:nvSpPr>
          <p:cNvPr id="143" name="Google Shape;143;p16"/>
          <p:cNvSpPr txBox="1"/>
          <p:nvPr/>
        </p:nvSpPr>
        <p:spPr>
          <a:xfrm>
            <a:off x="1005840" y="914400"/>
            <a:ext cx="7772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200" u="none" cap="none" strike="noStrike">
                <a:solidFill>
                  <a:srgbClr val="666666"/>
                </a:solidFill>
                <a:latin typeface="Nunito"/>
                <a:ea typeface="Nunito"/>
                <a:cs typeface="Nunito"/>
                <a:sym typeface="Nunito"/>
              </a:rPr>
              <a:t>A controlled test against the live pipeline to verify every defense works.</a:t>
            </a:r>
            <a:endParaRPr>
              <a:latin typeface="Nunito"/>
              <a:ea typeface="Nunito"/>
              <a:cs typeface="Nunito"/>
              <a:sym typeface="Nunito"/>
            </a:endParaRPr>
          </a:p>
        </p:txBody>
      </p:sp>
      <p:sp>
        <p:nvSpPr>
          <p:cNvPr id="144" name="Google Shape;144;p16"/>
          <p:cNvSpPr/>
          <p:nvPr/>
        </p:nvSpPr>
        <p:spPr>
          <a:xfrm>
            <a:off x="822950" y="1280150"/>
            <a:ext cx="3067200" cy="3532200"/>
          </a:xfrm>
          <a:prstGeom prst="roundRect">
            <a:avLst>
              <a:gd fmla="val 16667" name="adj"/>
            </a:avLst>
          </a:prstGeom>
          <a:solidFill>
            <a:srgbClr val="F5F5F5"/>
          </a:solidFill>
          <a:ln cap="flat" cmpd="sng" w="19050">
            <a:solidFill>
              <a:srgbClr val="666666"/>
            </a:solidFill>
            <a:prstDash val="dash"/>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a:p>
        </p:txBody>
      </p:sp>
      <p:sp>
        <p:nvSpPr>
          <p:cNvPr id="145" name="Google Shape;145;p16"/>
          <p:cNvSpPr txBox="1"/>
          <p:nvPr/>
        </p:nvSpPr>
        <p:spPr>
          <a:xfrm>
            <a:off x="4512900" y="1331375"/>
            <a:ext cx="20967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200" u="none" cap="none" strike="noStrike">
                <a:solidFill>
                  <a:srgbClr val="741B47"/>
                </a:solidFill>
                <a:latin typeface="Nunito"/>
                <a:ea typeface="Nunito"/>
                <a:cs typeface="Nunito"/>
                <a:sym typeface="Nunito"/>
              </a:rPr>
              <a:t>Setup Process</a:t>
            </a:r>
            <a:endParaRPr sz="2000">
              <a:solidFill>
                <a:srgbClr val="741B47"/>
              </a:solidFill>
              <a:latin typeface="Nunito"/>
              <a:ea typeface="Nunito"/>
              <a:cs typeface="Nunito"/>
              <a:sym typeface="Nunito"/>
            </a:endParaRPr>
          </a:p>
        </p:txBody>
      </p:sp>
      <p:sp>
        <p:nvSpPr>
          <p:cNvPr id="146" name="Google Shape;146;p16"/>
          <p:cNvSpPr txBox="1"/>
          <p:nvPr/>
        </p:nvSpPr>
        <p:spPr>
          <a:xfrm>
            <a:off x="4206250" y="1762175"/>
            <a:ext cx="4572000" cy="3263100"/>
          </a:xfrm>
          <a:prstGeom prst="rect">
            <a:avLst/>
          </a:prstGeom>
          <a:noFill/>
          <a:ln>
            <a:noFill/>
          </a:ln>
        </p:spPr>
        <p:txBody>
          <a:bodyPr anchorCtr="0" anchor="t" bIns="45700" lIns="91425" spcFirstLastPara="1" rIns="91425" wrap="square" tIns="45700">
            <a:spAutoFit/>
          </a:bodyPr>
          <a:lstStyle/>
          <a:p>
            <a:pPr indent="-323850" lvl="0" marL="457200" rtl="0" algn="l">
              <a:spcBef>
                <a:spcPts val="0"/>
              </a:spcBef>
              <a:spcAft>
                <a:spcPts val="0"/>
              </a:spcAft>
              <a:buClr>
                <a:schemeClr val="dk1"/>
              </a:buClr>
              <a:buSzPts val="1500"/>
              <a:buFont typeface="Nunito"/>
              <a:buAutoNum type="arabicPeriod"/>
            </a:pPr>
            <a:r>
              <a:rPr lang="en-US" sz="1500">
                <a:solidFill>
                  <a:schemeClr val="dk1"/>
                </a:solidFill>
                <a:latin typeface="Nunito"/>
                <a:ea typeface="Nunito"/>
                <a:cs typeface="Nunito"/>
                <a:sym typeface="Nunito"/>
              </a:rPr>
              <a:t>Configured simulated IoT water sensors, an MQTT broker, a subscriber, and a live dashboard.</a:t>
            </a:r>
            <a:endParaRPr sz="1500">
              <a:solidFill>
                <a:schemeClr val="dk1"/>
              </a:solidFill>
              <a:latin typeface="Nunito"/>
              <a:ea typeface="Nunito"/>
              <a:cs typeface="Nunito"/>
              <a:sym typeface="Nunito"/>
            </a:endParaRPr>
          </a:p>
          <a:p>
            <a:pPr indent="-323850" lvl="0" marL="457200" rtl="0" algn="l">
              <a:spcBef>
                <a:spcPts val="0"/>
              </a:spcBef>
              <a:spcAft>
                <a:spcPts val="0"/>
              </a:spcAft>
              <a:buClr>
                <a:schemeClr val="dk1"/>
              </a:buClr>
              <a:buSzPts val="1500"/>
              <a:buFont typeface="Nunito"/>
              <a:buAutoNum type="arabicPeriod"/>
            </a:pPr>
            <a:r>
              <a:rPr lang="en-US" sz="1500">
                <a:solidFill>
                  <a:schemeClr val="dk1"/>
                </a:solidFill>
                <a:latin typeface="Nunito"/>
                <a:ea typeface="Nunito"/>
                <a:cs typeface="Nunito"/>
                <a:sym typeface="Nunito"/>
              </a:rPr>
              <a:t>Enabled TLS and mTLS to secure communications and authenticate devices.</a:t>
            </a:r>
            <a:endParaRPr sz="1500">
              <a:solidFill>
                <a:schemeClr val="dk1"/>
              </a:solidFill>
              <a:latin typeface="Nunito"/>
              <a:ea typeface="Nunito"/>
              <a:cs typeface="Nunito"/>
              <a:sym typeface="Nunito"/>
            </a:endParaRPr>
          </a:p>
          <a:p>
            <a:pPr indent="-323850" lvl="0" marL="457200" rtl="0" algn="l">
              <a:spcBef>
                <a:spcPts val="0"/>
              </a:spcBef>
              <a:spcAft>
                <a:spcPts val="0"/>
              </a:spcAft>
              <a:buClr>
                <a:schemeClr val="dk1"/>
              </a:buClr>
              <a:buSzPts val="1500"/>
              <a:buFont typeface="Nunito"/>
              <a:buAutoNum type="arabicPeriod"/>
            </a:pPr>
            <a:r>
              <a:rPr lang="en-US" sz="1500">
                <a:solidFill>
                  <a:schemeClr val="dk1"/>
                </a:solidFill>
                <a:latin typeface="Nunito"/>
                <a:ea typeface="Nunito"/>
                <a:cs typeface="Nunito"/>
                <a:sym typeface="Nunito"/>
              </a:rPr>
              <a:t>Implemented HMAC verification, timestamps, and sequence counters to validate incoming messages.</a:t>
            </a:r>
            <a:endParaRPr sz="1500">
              <a:solidFill>
                <a:schemeClr val="dk1"/>
              </a:solidFill>
              <a:latin typeface="Nunito"/>
              <a:ea typeface="Nunito"/>
              <a:cs typeface="Nunito"/>
              <a:sym typeface="Nunito"/>
            </a:endParaRPr>
          </a:p>
          <a:p>
            <a:pPr indent="-323850" lvl="0" marL="457200" rtl="0" algn="l">
              <a:spcBef>
                <a:spcPts val="0"/>
              </a:spcBef>
              <a:spcAft>
                <a:spcPts val="0"/>
              </a:spcAft>
              <a:buClr>
                <a:schemeClr val="dk1"/>
              </a:buClr>
              <a:buSzPts val="1500"/>
              <a:buFont typeface="Nunito"/>
              <a:buAutoNum type="arabicPeriod"/>
            </a:pPr>
            <a:r>
              <a:rPr lang="en-US" sz="1500">
                <a:solidFill>
                  <a:schemeClr val="dk1"/>
                </a:solidFill>
                <a:latin typeface="Nunito"/>
                <a:ea typeface="Nunito"/>
                <a:cs typeface="Nunito"/>
                <a:sym typeface="Nunito"/>
              </a:rPr>
              <a:t>Ran attack simulations and monitored broker logs, subscriber responses, and dashboard alerts.</a:t>
            </a:r>
            <a:endParaRPr sz="1500">
              <a:solidFill>
                <a:schemeClr val="dk1"/>
              </a:solidFill>
              <a:latin typeface="Nunito"/>
              <a:ea typeface="Nunito"/>
              <a:cs typeface="Nunito"/>
              <a:sym typeface="Nunito"/>
            </a:endParaRPr>
          </a:p>
          <a:p>
            <a:pPr indent="-323850" lvl="0" marL="457200" rtl="0" algn="l">
              <a:spcBef>
                <a:spcPts val="0"/>
              </a:spcBef>
              <a:spcAft>
                <a:spcPts val="0"/>
              </a:spcAft>
              <a:buClr>
                <a:schemeClr val="dk1"/>
              </a:buClr>
              <a:buSzPts val="1500"/>
              <a:buFont typeface="Nunito"/>
              <a:buAutoNum type="arabicPeriod"/>
            </a:pPr>
            <a:r>
              <a:rPr lang="en-US" sz="1500">
                <a:solidFill>
                  <a:schemeClr val="dk1"/>
                </a:solidFill>
                <a:latin typeface="Nunito"/>
                <a:ea typeface="Nunito"/>
                <a:cs typeface="Nunito"/>
                <a:sym typeface="Nunito"/>
              </a:rPr>
              <a:t>Recorded attack outcomes, message delivery, and performance measurements.</a:t>
            </a:r>
            <a:endParaRPr sz="1500">
              <a:solidFill>
                <a:schemeClr val="dk1"/>
              </a:solidFill>
              <a:latin typeface="Nunito"/>
              <a:ea typeface="Nunito"/>
              <a:cs typeface="Nunito"/>
              <a:sym typeface="Nunito"/>
            </a:endParaRPr>
          </a:p>
          <a:p>
            <a:pPr indent="0" lvl="0" marL="0" marR="0" rtl="0" algn="l">
              <a:spcBef>
                <a:spcPts val="0"/>
              </a:spcBef>
              <a:spcAft>
                <a:spcPts val="0"/>
              </a:spcAft>
              <a:buNone/>
            </a:pPr>
            <a:r>
              <a:t/>
            </a:r>
            <a:endParaRPr sz="1100">
              <a:solidFill>
                <a:srgbClr val="666666"/>
              </a:solidFill>
              <a:latin typeface="Inter"/>
              <a:ea typeface="Inter"/>
              <a:cs typeface="Inter"/>
              <a:sym typeface="Inter"/>
            </a:endParaRPr>
          </a:p>
        </p:txBody>
      </p:sp>
      <p:pic>
        <p:nvPicPr>
          <p:cNvPr id="147" name="Google Shape;147;p16" title="Hydrologic System Architecture 1.png"/>
          <p:cNvPicPr preferRelativeResize="0"/>
          <p:nvPr/>
        </p:nvPicPr>
        <p:blipFill rotWithShape="1">
          <a:blip r:embed="rId3">
            <a:alphaModFix/>
          </a:blip>
          <a:srcRect b="4892" l="8073" r="7396" t="4174"/>
          <a:stretch/>
        </p:blipFill>
        <p:spPr>
          <a:xfrm>
            <a:off x="1271938" y="1280147"/>
            <a:ext cx="2169227" cy="35321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7"/>
          <p:cNvSpPr/>
          <p:nvPr/>
        </p:nvSpPr>
        <p:spPr>
          <a:xfrm>
            <a:off x="365760" y="274320"/>
            <a:ext cx="457200" cy="320040"/>
          </a:xfrm>
          <a:prstGeom prst="roundRect">
            <a:avLst>
              <a:gd fmla="val 16667" name="adj"/>
            </a:avLst>
          </a:prstGeom>
          <a:solidFill>
            <a:srgbClr val="A64D7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Medium"/>
                <a:ea typeface="Inter Medium"/>
                <a:cs typeface="Inter Medium"/>
                <a:sym typeface="Inter Medium"/>
              </a:rPr>
              <a:t>04</a:t>
            </a:r>
            <a:endParaRPr/>
          </a:p>
        </p:txBody>
      </p:sp>
      <p:sp>
        <p:nvSpPr>
          <p:cNvPr id="153" name="Google Shape;153;p17"/>
          <p:cNvSpPr txBox="1"/>
          <p:nvPr/>
        </p:nvSpPr>
        <p:spPr>
          <a:xfrm>
            <a:off x="1005840" y="274320"/>
            <a:ext cx="7772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000000"/>
                </a:solidFill>
                <a:latin typeface="Nunito"/>
                <a:ea typeface="Nunito"/>
                <a:cs typeface="Nunito"/>
                <a:sym typeface="Nunito"/>
              </a:rPr>
              <a:t>Attack Results: Every Attack Blocked</a:t>
            </a:r>
            <a:endParaRPr b="1">
              <a:latin typeface="Nunito"/>
              <a:ea typeface="Nunito"/>
              <a:cs typeface="Nunito"/>
              <a:sym typeface="Nunito"/>
            </a:endParaRPr>
          </a:p>
        </p:txBody>
      </p:sp>
      <p:sp>
        <p:nvSpPr>
          <p:cNvPr id="154" name="Google Shape;154;p17"/>
          <p:cNvSpPr txBox="1"/>
          <p:nvPr/>
        </p:nvSpPr>
        <p:spPr>
          <a:xfrm>
            <a:off x="1005840" y="914400"/>
            <a:ext cx="7772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200" u="none" cap="none" strike="noStrike">
                <a:solidFill>
                  <a:srgbClr val="666666"/>
                </a:solidFill>
                <a:latin typeface="Nunito"/>
                <a:ea typeface="Nunito"/>
                <a:cs typeface="Nunito"/>
                <a:sym typeface="Nunito"/>
              </a:rPr>
              <a:t>Which defense caught each attack phase — and why it works.</a:t>
            </a:r>
            <a:endParaRPr>
              <a:latin typeface="Nunito"/>
              <a:ea typeface="Nunito"/>
              <a:cs typeface="Nunito"/>
              <a:sym typeface="Nunito"/>
            </a:endParaRPr>
          </a:p>
        </p:txBody>
      </p:sp>
      <p:graphicFrame>
        <p:nvGraphicFramePr>
          <p:cNvPr id="155" name="Google Shape;155;p17"/>
          <p:cNvGraphicFramePr/>
          <p:nvPr/>
        </p:nvGraphicFramePr>
        <p:xfrm>
          <a:off x="454040" y="1554480"/>
          <a:ext cx="3000000" cy="3000000"/>
        </p:xfrm>
        <a:graphic>
          <a:graphicData uri="http://schemas.openxmlformats.org/drawingml/2006/table">
            <a:tbl>
              <a:tblPr bandRow="1" firstRow="1">
                <a:noFill/>
                <a:tableStyleId>{3B9FD37A-7BF3-4518-908A-38AC28886C80}</a:tableStyleId>
              </a:tblPr>
              <a:tblGrid>
                <a:gridCol w="1665275"/>
                <a:gridCol w="2035325"/>
                <a:gridCol w="2035325"/>
                <a:gridCol w="2405400"/>
              </a:tblGrid>
              <a:tr h="488575">
                <a:tc>
                  <a:txBody>
                    <a:bodyPr/>
                    <a:lstStyle/>
                    <a:p>
                      <a:pPr indent="0" lvl="0" marL="0" marR="0" rtl="0" algn="l">
                        <a:spcBef>
                          <a:spcPts val="0"/>
                        </a:spcBef>
                        <a:spcAft>
                          <a:spcPts val="0"/>
                        </a:spcAft>
                        <a:buNone/>
                      </a:pPr>
                      <a:r>
                        <a:rPr lang="en-US" sz="1000" u="none" cap="none" strike="noStrike">
                          <a:solidFill>
                            <a:srgbClr val="FFFFFF"/>
                          </a:solidFill>
                          <a:latin typeface="Nunito"/>
                          <a:ea typeface="Nunito"/>
                          <a:cs typeface="Nunito"/>
                          <a:sym typeface="Nunito"/>
                        </a:rPr>
                        <a:t>Attack Phase</a:t>
                      </a:r>
                      <a:endParaRPr>
                        <a:latin typeface="Nunito"/>
                        <a:ea typeface="Nunito"/>
                        <a:cs typeface="Nunito"/>
                        <a:sym typeface="Nunito"/>
                      </a:endParaRPr>
                    </a:p>
                  </a:txBody>
                  <a:tcPr marT="45725" marB="45725" marR="91450" marL="91450">
                    <a:solidFill>
                      <a:srgbClr val="C27BA0"/>
                    </a:solidFill>
                  </a:tcPr>
                </a:tc>
                <a:tc>
                  <a:txBody>
                    <a:bodyPr/>
                    <a:lstStyle/>
                    <a:p>
                      <a:pPr indent="0" lvl="0" marL="0" marR="0" rtl="0" algn="l">
                        <a:spcBef>
                          <a:spcPts val="0"/>
                        </a:spcBef>
                        <a:spcAft>
                          <a:spcPts val="0"/>
                        </a:spcAft>
                        <a:buNone/>
                      </a:pPr>
                      <a:r>
                        <a:rPr lang="en-US" sz="1000">
                          <a:solidFill>
                            <a:srgbClr val="FFFFFF"/>
                          </a:solidFill>
                          <a:latin typeface="Nunito"/>
                          <a:ea typeface="Nunito"/>
                          <a:cs typeface="Nunito"/>
                          <a:sym typeface="Nunito"/>
                        </a:rPr>
                        <a:t>What the Attacker Tried</a:t>
                      </a:r>
                      <a:endParaRPr>
                        <a:latin typeface="Nunito"/>
                        <a:ea typeface="Nunito"/>
                        <a:cs typeface="Nunito"/>
                        <a:sym typeface="Nunito"/>
                      </a:endParaRPr>
                    </a:p>
                  </a:txBody>
                  <a:tcPr marT="45725" marB="45725" marR="91450" marL="91450">
                    <a:solidFill>
                      <a:srgbClr val="C27BA0"/>
                    </a:solidFill>
                  </a:tcPr>
                </a:tc>
                <a:tc>
                  <a:txBody>
                    <a:bodyPr/>
                    <a:lstStyle/>
                    <a:p>
                      <a:pPr indent="0" lvl="0" marL="0" marR="0" rtl="0" algn="l">
                        <a:spcBef>
                          <a:spcPts val="0"/>
                        </a:spcBef>
                        <a:spcAft>
                          <a:spcPts val="0"/>
                        </a:spcAft>
                        <a:buNone/>
                      </a:pPr>
                      <a:r>
                        <a:rPr lang="en-US" sz="1000">
                          <a:solidFill>
                            <a:srgbClr val="FFFFFF"/>
                          </a:solidFill>
                          <a:latin typeface="Nunito"/>
                          <a:ea typeface="Nunito"/>
                          <a:cs typeface="Nunito"/>
                          <a:sym typeface="Nunito"/>
                        </a:rPr>
                        <a:t>Defense That Caught It</a:t>
                      </a:r>
                      <a:endParaRPr>
                        <a:latin typeface="Nunito"/>
                        <a:ea typeface="Nunito"/>
                        <a:cs typeface="Nunito"/>
                        <a:sym typeface="Nunito"/>
                      </a:endParaRPr>
                    </a:p>
                  </a:txBody>
                  <a:tcPr marT="45725" marB="45725" marR="91450" marL="91450">
                    <a:solidFill>
                      <a:srgbClr val="C27BA0"/>
                    </a:solidFill>
                  </a:tcPr>
                </a:tc>
                <a:tc>
                  <a:txBody>
                    <a:bodyPr/>
                    <a:lstStyle/>
                    <a:p>
                      <a:pPr indent="0" lvl="0" marL="0" marR="0" rtl="0" algn="l">
                        <a:spcBef>
                          <a:spcPts val="0"/>
                        </a:spcBef>
                        <a:spcAft>
                          <a:spcPts val="0"/>
                        </a:spcAft>
                        <a:buNone/>
                      </a:pPr>
                      <a:r>
                        <a:rPr lang="en-US" sz="1000">
                          <a:solidFill>
                            <a:srgbClr val="FFFFFF"/>
                          </a:solidFill>
                          <a:latin typeface="Nunito"/>
                          <a:ea typeface="Nunito"/>
                          <a:cs typeface="Nunito"/>
                          <a:sym typeface="Nunito"/>
                        </a:rPr>
                        <a:t>Why It Works</a:t>
                      </a:r>
                      <a:endParaRPr>
                        <a:latin typeface="Nunito"/>
                        <a:ea typeface="Nunito"/>
                        <a:cs typeface="Nunito"/>
                        <a:sym typeface="Nunito"/>
                      </a:endParaRPr>
                    </a:p>
                  </a:txBody>
                  <a:tcPr marT="45725" marB="45725" marR="91450" marL="91450">
                    <a:solidFill>
                      <a:srgbClr val="C27BA0"/>
                    </a:solidFill>
                  </a:tcPr>
                </a:tc>
              </a:tr>
              <a:tr h="529275">
                <a:tc>
                  <a:txBody>
                    <a:bodyPr/>
                    <a:lstStyle/>
                    <a:p>
                      <a:pPr indent="0" lvl="0" marL="0" marR="0" rtl="0" algn="l">
                        <a:spcBef>
                          <a:spcPts val="0"/>
                        </a:spcBef>
                        <a:spcAft>
                          <a:spcPts val="0"/>
                        </a:spcAft>
                        <a:buNone/>
                      </a:pPr>
                      <a:r>
                        <a:rPr lang="en-US" sz="1000">
                          <a:solidFill>
                            <a:srgbClr val="000000"/>
                          </a:solidFill>
                          <a:latin typeface="Nunito"/>
                          <a:ea typeface="Nunito"/>
                          <a:cs typeface="Nunito"/>
                          <a:sym typeface="Nunito"/>
                        </a:rPr>
                        <a:t>Phase 1: Eavesdrop</a:t>
                      </a:r>
                      <a:endParaRPr>
                        <a:latin typeface="Nunito"/>
                        <a:ea typeface="Nunito"/>
                        <a:cs typeface="Nunito"/>
                        <a:sym typeface="Nunito"/>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200">
                          <a:latin typeface="Nunito"/>
                          <a:ea typeface="Nunito"/>
                          <a:cs typeface="Nunito"/>
                          <a:sym typeface="Nunito"/>
                        </a:rPr>
                        <a:t>Read sensor messages sent over the network</a:t>
                      </a:r>
                      <a:endParaRPr sz="1200">
                        <a:solidFill>
                          <a:schemeClr val="dk1"/>
                        </a:solidFill>
                        <a:latin typeface="Nunito"/>
                        <a:ea typeface="Nunito"/>
                        <a:cs typeface="Nunito"/>
                        <a:sym typeface="Nunito"/>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200">
                          <a:latin typeface="Nunito"/>
                          <a:ea typeface="Nunito"/>
                          <a:cs typeface="Nunito"/>
                          <a:sym typeface="Nunito"/>
                        </a:rPr>
                        <a:t>TLS encryption</a:t>
                      </a:r>
                      <a:endParaRPr sz="1200">
                        <a:solidFill>
                          <a:schemeClr val="dk1"/>
                        </a:solidFill>
                        <a:latin typeface="Nunito"/>
                        <a:ea typeface="Nunito"/>
                        <a:cs typeface="Nunito"/>
                        <a:sym typeface="Nunito"/>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200">
                          <a:latin typeface="Nunito"/>
                          <a:ea typeface="Nunito"/>
                          <a:cs typeface="Nunito"/>
                          <a:sym typeface="Nunito"/>
                        </a:rPr>
                        <a:t>Plaintext was readable without TLS; secured traffic was protected</a:t>
                      </a:r>
                      <a:endParaRPr sz="1200">
                        <a:solidFill>
                          <a:schemeClr val="dk1"/>
                        </a:solidFill>
                        <a:latin typeface="Nunito"/>
                        <a:ea typeface="Nunito"/>
                        <a:cs typeface="Nunito"/>
                        <a:sym typeface="Nunito"/>
                      </a:endParaRPr>
                    </a:p>
                  </a:txBody>
                  <a:tcPr marT="45725" marB="45725" marR="91450" marL="91450">
                    <a:solidFill>
                      <a:srgbClr val="FFFFFF"/>
                    </a:solidFill>
                  </a:tcPr>
                </a:tc>
              </a:tr>
              <a:tr h="488575">
                <a:tc>
                  <a:txBody>
                    <a:bodyPr/>
                    <a:lstStyle/>
                    <a:p>
                      <a:pPr indent="0" lvl="0" marL="0" marR="0" rtl="0" algn="l">
                        <a:spcBef>
                          <a:spcPts val="0"/>
                        </a:spcBef>
                        <a:spcAft>
                          <a:spcPts val="0"/>
                        </a:spcAft>
                        <a:buNone/>
                      </a:pPr>
                      <a:r>
                        <a:rPr lang="en-US" sz="1000">
                          <a:solidFill>
                            <a:srgbClr val="000000"/>
                          </a:solidFill>
                          <a:latin typeface="Nunito"/>
                          <a:ea typeface="Nunito"/>
                          <a:cs typeface="Nunito"/>
                          <a:sym typeface="Nunito"/>
                        </a:rPr>
                        <a:t>Phase 2: Inject</a:t>
                      </a:r>
                      <a:endParaRPr>
                        <a:latin typeface="Nunito"/>
                        <a:ea typeface="Nunito"/>
                        <a:cs typeface="Nunito"/>
                        <a:sym typeface="Nunito"/>
                      </a:endParaRPr>
                    </a:p>
                  </a:txBody>
                  <a:tcPr marT="45725" marB="45725" marR="91450" marL="91450">
                    <a:solidFill>
                      <a:srgbClr val="F5F5F5"/>
                    </a:solidFill>
                  </a:tcPr>
                </a:tc>
                <a:tc>
                  <a:txBody>
                    <a:bodyPr/>
                    <a:lstStyle/>
                    <a:p>
                      <a:pPr indent="0" lvl="0" marL="0" marR="0" rtl="0" algn="l">
                        <a:spcBef>
                          <a:spcPts val="0"/>
                        </a:spcBef>
                        <a:spcAft>
                          <a:spcPts val="0"/>
                        </a:spcAft>
                        <a:buNone/>
                      </a:pPr>
                      <a:r>
                        <a:rPr lang="en-US" sz="1200">
                          <a:latin typeface="Nunito"/>
                          <a:ea typeface="Nunito"/>
                          <a:cs typeface="Nunito"/>
                          <a:sym typeface="Nunito"/>
                        </a:rPr>
                        <a:t>Send altered or fake sensor data</a:t>
                      </a:r>
                      <a:endParaRPr sz="1200">
                        <a:solidFill>
                          <a:schemeClr val="dk1"/>
                        </a:solidFill>
                        <a:latin typeface="Nunito"/>
                        <a:ea typeface="Nunito"/>
                        <a:cs typeface="Nunito"/>
                        <a:sym typeface="Nunito"/>
                      </a:endParaRPr>
                    </a:p>
                  </a:txBody>
                  <a:tcPr marT="45725" marB="45725" marR="91450" marL="91450">
                    <a:solidFill>
                      <a:srgbClr val="F5F5F5"/>
                    </a:solidFill>
                  </a:tcPr>
                </a:tc>
                <a:tc>
                  <a:txBody>
                    <a:bodyPr/>
                    <a:lstStyle/>
                    <a:p>
                      <a:pPr indent="0" lvl="0" marL="0" marR="0" rtl="0" algn="l">
                        <a:spcBef>
                          <a:spcPts val="0"/>
                        </a:spcBef>
                        <a:spcAft>
                          <a:spcPts val="0"/>
                        </a:spcAft>
                        <a:buNone/>
                      </a:pPr>
                      <a:r>
                        <a:rPr lang="en-US" sz="1200">
                          <a:latin typeface="Nunito"/>
                          <a:ea typeface="Nunito"/>
                          <a:cs typeface="Nunito"/>
                          <a:sym typeface="Nunito"/>
                        </a:rPr>
                        <a:t>HMAC-SHA256 verification</a:t>
                      </a:r>
                      <a:endParaRPr sz="1200">
                        <a:solidFill>
                          <a:schemeClr val="dk1"/>
                        </a:solidFill>
                        <a:latin typeface="Nunito"/>
                        <a:ea typeface="Nunito"/>
                        <a:cs typeface="Nunito"/>
                        <a:sym typeface="Nunito"/>
                      </a:endParaRPr>
                    </a:p>
                  </a:txBody>
                  <a:tcPr marT="45725" marB="45725" marR="91450" marL="91450">
                    <a:solidFill>
                      <a:srgbClr val="F5F5F5"/>
                    </a:solidFill>
                  </a:tcPr>
                </a:tc>
                <a:tc>
                  <a:txBody>
                    <a:bodyPr/>
                    <a:lstStyle/>
                    <a:p>
                      <a:pPr indent="0" lvl="0" marL="0" marR="0" rtl="0" algn="l">
                        <a:spcBef>
                          <a:spcPts val="0"/>
                        </a:spcBef>
                        <a:spcAft>
                          <a:spcPts val="0"/>
                        </a:spcAft>
                        <a:buNone/>
                      </a:pPr>
                      <a:r>
                        <a:rPr lang="en-US" sz="1200">
                          <a:latin typeface="Nunito"/>
                          <a:ea typeface="Nunito"/>
                          <a:cs typeface="Nunito"/>
                          <a:sym typeface="Nunito"/>
                        </a:rPr>
                        <a:t>Tampered messages were detected and blocked in the live demo</a:t>
                      </a:r>
                      <a:endParaRPr sz="1200">
                        <a:solidFill>
                          <a:schemeClr val="dk1"/>
                        </a:solidFill>
                        <a:latin typeface="Nunito"/>
                        <a:ea typeface="Nunito"/>
                        <a:cs typeface="Nunito"/>
                        <a:sym typeface="Nunito"/>
                      </a:endParaRPr>
                    </a:p>
                  </a:txBody>
                  <a:tcPr marT="45725" marB="45725" marR="91450" marL="91450">
                    <a:solidFill>
                      <a:srgbClr val="F5F5F5"/>
                    </a:solidFill>
                  </a:tcPr>
                </a:tc>
              </a:tr>
              <a:tr h="488575">
                <a:tc>
                  <a:txBody>
                    <a:bodyPr/>
                    <a:lstStyle/>
                    <a:p>
                      <a:pPr indent="0" lvl="0" marL="0" marR="0" rtl="0" algn="l">
                        <a:spcBef>
                          <a:spcPts val="0"/>
                        </a:spcBef>
                        <a:spcAft>
                          <a:spcPts val="0"/>
                        </a:spcAft>
                        <a:buNone/>
                      </a:pPr>
                      <a:r>
                        <a:rPr lang="en-US" sz="1000">
                          <a:solidFill>
                            <a:srgbClr val="000000"/>
                          </a:solidFill>
                          <a:latin typeface="Nunito"/>
                          <a:ea typeface="Nunito"/>
                          <a:cs typeface="Nunito"/>
                          <a:sym typeface="Nunito"/>
                        </a:rPr>
                        <a:t>Phase 3: Replay</a:t>
                      </a:r>
                      <a:endParaRPr>
                        <a:latin typeface="Nunito"/>
                        <a:ea typeface="Nunito"/>
                        <a:cs typeface="Nunito"/>
                        <a:sym typeface="Nunito"/>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200">
                          <a:latin typeface="Nunito"/>
                          <a:ea typeface="Nunito"/>
                          <a:cs typeface="Nunito"/>
                          <a:sym typeface="Nunito"/>
                        </a:rPr>
                        <a:t>Resend previously captured messages</a:t>
                      </a:r>
                      <a:endParaRPr sz="1200">
                        <a:solidFill>
                          <a:schemeClr val="dk1"/>
                        </a:solidFill>
                        <a:latin typeface="Nunito"/>
                        <a:ea typeface="Nunito"/>
                        <a:cs typeface="Nunito"/>
                        <a:sym typeface="Nunito"/>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200">
                          <a:latin typeface="Nunito"/>
                          <a:ea typeface="Nunito"/>
                          <a:cs typeface="Nunito"/>
                          <a:sym typeface="Nunito"/>
                        </a:rPr>
                        <a:t>Timestamps and sequence counters</a:t>
                      </a:r>
                      <a:endParaRPr sz="1200">
                        <a:solidFill>
                          <a:schemeClr val="dk1"/>
                        </a:solidFill>
                        <a:latin typeface="Nunito"/>
                        <a:ea typeface="Nunito"/>
                        <a:cs typeface="Nunito"/>
                        <a:sym typeface="Nunito"/>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200">
                          <a:latin typeface="Nunito"/>
                          <a:ea typeface="Nunito"/>
                          <a:cs typeface="Nunito"/>
                          <a:sym typeface="Nunito"/>
                        </a:rPr>
                        <a:t>Replayed messages were rejected by the combined defenses</a:t>
                      </a:r>
                      <a:endParaRPr sz="1200">
                        <a:solidFill>
                          <a:schemeClr val="dk1"/>
                        </a:solidFill>
                        <a:latin typeface="Nunito"/>
                        <a:ea typeface="Nunito"/>
                        <a:cs typeface="Nunito"/>
                        <a:sym typeface="Nunito"/>
                      </a:endParaRPr>
                    </a:p>
                  </a:txBody>
                  <a:tcPr marT="45725" marB="45725" marR="91450" marL="91450">
                    <a:solidFill>
                      <a:srgbClr val="FFFFFF"/>
                    </a:solidFill>
                  </a:tcPr>
                </a:tc>
              </a:tr>
            </a:tbl>
          </a:graphicData>
        </a:graphic>
      </p:graphicFrame>
      <p:sp>
        <p:nvSpPr>
          <p:cNvPr id="156" name="Google Shape;156;p17"/>
          <p:cNvSpPr/>
          <p:nvPr/>
        </p:nvSpPr>
        <p:spPr>
          <a:xfrm>
            <a:off x="2286000" y="4106730"/>
            <a:ext cx="4572000" cy="457200"/>
          </a:xfrm>
          <a:prstGeom prst="roundRect">
            <a:avLst>
              <a:gd fmla="val 16667" name="adj"/>
            </a:avLst>
          </a:prstGeom>
          <a:solidFill>
            <a:srgbClr val="C27BA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a:solidFill>
                  <a:srgbClr val="FFFFFF"/>
                </a:solidFill>
                <a:latin typeface="Nunito"/>
                <a:ea typeface="Nunito"/>
                <a:cs typeface="Nunito"/>
                <a:sym typeface="Nunito"/>
              </a:rPr>
              <a:t>✔</a:t>
            </a:r>
            <a:r>
              <a:rPr b="1" i="0" lang="en-US" u="none" cap="none" strike="noStrike">
                <a:solidFill>
                  <a:srgbClr val="FFFFFF"/>
                </a:solidFill>
                <a:latin typeface="Nunito"/>
                <a:ea typeface="Nunito"/>
                <a:cs typeface="Nunito"/>
                <a:sym typeface="Nunito"/>
              </a:rPr>
              <a:t>  Result: 0 attacks succeeded  |  100% blocked</a:t>
            </a:r>
            <a:endParaRPr sz="1500">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8"/>
          <p:cNvSpPr/>
          <p:nvPr/>
        </p:nvSpPr>
        <p:spPr>
          <a:xfrm>
            <a:off x="365760" y="274320"/>
            <a:ext cx="457200" cy="320040"/>
          </a:xfrm>
          <a:prstGeom prst="roundRect">
            <a:avLst>
              <a:gd fmla="val 16667" name="adj"/>
            </a:avLst>
          </a:prstGeom>
          <a:solidFill>
            <a:srgbClr val="A64D7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Medium"/>
                <a:ea typeface="Inter Medium"/>
                <a:cs typeface="Inter Medium"/>
                <a:sym typeface="Inter Medium"/>
              </a:rPr>
              <a:t>05</a:t>
            </a:r>
            <a:endParaRPr/>
          </a:p>
        </p:txBody>
      </p:sp>
      <p:sp>
        <p:nvSpPr>
          <p:cNvPr id="162" name="Google Shape;162;p18"/>
          <p:cNvSpPr txBox="1"/>
          <p:nvPr/>
        </p:nvSpPr>
        <p:spPr>
          <a:xfrm>
            <a:off x="1005840" y="274320"/>
            <a:ext cx="7772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000000"/>
                </a:solidFill>
                <a:latin typeface="Nunito"/>
                <a:ea typeface="Nunito"/>
                <a:cs typeface="Nunito"/>
                <a:sym typeface="Nunito"/>
              </a:rPr>
              <a:t>Dashboard: Attack Detected</a:t>
            </a:r>
            <a:endParaRPr b="1">
              <a:latin typeface="Nunito"/>
              <a:ea typeface="Nunito"/>
              <a:cs typeface="Nunito"/>
              <a:sym typeface="Nunito"/>
            </a:endParaRPr>
          </a:p>
        </p:txBody>
      </p:sp>
      <p:sp>
        <p:nvSpPr>
          <p:cNvPr id="163" name="Google Shape;163;p18"/>
          <p:cNvSpPr txBox="1"/>
          <p:nvPr/>
        </p:nvSpPr>
        <p:spPr>
          <a:xfrm>
            <a:off x="1005840" y="914400"/>
            <a:ext cx="7772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200" u="none" cap="none" strike="noStrike">
                <a:solidFill>
                  <a:srgbClr val="666666"/>
                </a:solidFill>
                <a:latin typeface="Nunito"/>
                <a:ea typeface="Nunito"/>
                <a:cs typeface="Nunito"/>
                <a:sym typeface="Nunito"/>
              </a:rPr>
              <a:t>Red alerts, shaking zone cards — every attack caught in real time.</a:t>
            </a:r>
            <a:endParaRPr>
              <a:latin typeface="Nunito"/>
              <a:ea typeface="Nunito"/>
              <a:cs typeface="Nunito"/>
              <a:sym typeface="Nunito"/>
            </a:endParaRPr>
          </a:p>
        </p:txBody>
      </p:sp>
      <p:pic>
        <p:nvPicPr>
          <p:cNvPr id="164" name="Google Shape;164;p18" title="Dashboard full Attack.mov">
            <a:hlinkClick r:id="rId3"/>
          </p:cNvPr>
          <p:cNvPicPr preferRelativeResize="0"/>
          <p:nvPr/>
        </p:nvPicPr>
        <p:blipFill>
          <a:blip r:embed="rId4">
            <a:alphaModFix/>
          </a:blip>
          <a:stretch>
            <a:fillRect/>
          </a:stretch>
        </p:blipFill>
        <p:spPr>
          <a:xfrm>
            <a:off x="1087850" y="1250150"/>
            <a:ext cx="6723122" cy="3795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9"/>
          <p:cNvSpPr/>
          <p:nvPr/>
        </p:nvSpPr>
        <p:spPr>
          <a:xfrm>
            <a:off x="263351" y="221075"/>
            <a:ext cx="742500" cy="257400"/>
          </a:xfrm>
          <a:prstGeom prst="roundRect">
            <a:avLst>
              <a:gd fmla="val 16667" name="adj"/>
            </a:avLst>
          </a:prstGeom>
          <a:solidFill>
            <a:srgbClr val="A64D7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a:t>Bonus</a:t>
            </a:r>
            <a:endParaRPr/>
          </a:p>
        </p:txBody>
      </p:sp>
      <p:sp>
        <p:nvSpPr>
          <p:cNvPr id="170" name="Google Shape;170;p19"/>
          <p:cNvSpPr txBox="1"/>
          <p:nvPr/>
        </p:nvSpPr>
        <p:spPr>
          <a:xfrm>
            <a:off x="1005840" y="114845"/>
            <a:ext cx="7772400" cy="64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latin typeface="Nunito"/>
                <a:ea typeface="Nunito"/>
                <a:cs typeface="Nunito"/>
                <a:sym typeface="Nunito"/>
              </a:rPr>
              <a:t>Security Analysis Chart </a:t>
            </a:r>
            <a:endParaRPr b="1" sz="2400">
              <a:latin typeface="Nunito"/>
              <a:ea typeface="Nunito"/>
              <a:cs typeface="Nunito"/>
              <a:sym typeface="Nunito"/>
            </a:endParaRPr>
          </a:p>
        </p:txBody>
      </p:sp>
      <p:sp>
        <p:nvSpPr>
          <p:cNvPr id="171" name="Google Shape;171;p19"/>
          <p:cNvSpPr txBox="1"/>
          <p:nvPr/>
        </p:nvSpPr>
        <p:spPr>
          <a:xfrm>
            <a:off x="685790" y="531725"/>
            <a:ext cx="7772400" cy="365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rgbClr val="666666"/>
                </a:solidFill>
                <a:latin typeface="Nunito"/>
                <a:ea typeface="Nunito"/>
                <a:cs typeface="Nunito"/>
                <a:sym typeface="Nunito"/>
              </a:rPr>
              <a:t>Turn your experiment data into a visual argument.</a:t>
            </a:r>
            <a:endParaRPr sz="1200">
              <a:solidFill>
                <a:srgbClr val="666666"/>
              </a:solidFill>
              <a:latin typeface="Nunito"/>
              <a:ea typeface="Nunito"/>
              <a:cs typeface="Nunito"/>
              <a:sym typeface="Nunito"/>
            </a:endParaRPr>
          </a:p>
        </p:txBody>
      </p:sp>
      <p:pic>
        <p:nvPicPr>
          <p:cNvPr id="172" name="Google Shape;172;p19" title="defense_comparison.png"/>
          <p:cNvPicPr preferRelativeResize="0"/>
          <p:nvPr/>
        </p:nvPicPr>
        <p:blipFill>
          <a:blip r:embed="rId3">
            <a:alphaModFix/>
          </a:blip>
          <a:stretch>
            <a:fillRect/>
          </a:stretch>
        </p:blipFill>
        <p:spPr>
          <a:xfrm>
            <a:off x="1237800" y="897425"/>
            <a:ext cx="7079125" cy="4101351"/>
          </a:xfrm>
          <a:prstGeom prst="rect">
            <a:avLst/>
          </a:prstGeom>
          <a:solidFill>
            <a:srgbClr val="F5F5F5"/>
          </a:solidFill>
          <a:ln cap="flat" cmpd="sng" w="19050">
            <a:solidFill>
              <a:srgbClr val="666666"/>
            </a:solidFill>
            <a:prstDash val="dash"/>
            <a:round/>
            <a:headEnd len="sm" w="sm" type="none"/>
            <a:tailEnd len="sm" w="sm" type="none"/>
          </a:ln>
          <a:effectLst>
            <a:outerShdw blurRad="40000" rotWithShape="0" dir="5400000" dist="23000">
              <a:srgbClr val="000000">
                <a:alpha val="349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0"/>
          <p:cNvSpPr/>
          <p:nvPr/>
        </p:nvSpPr>
        <p:spPr>
          <a:xfrm>
            <a:off x="365760" y="274320"/>
            <a:ext cx="457200" cy="320040"/>
          </a:xfrm>
          <a:prstGeom prst="roundRect">
            <a:avLst>
              <a:gd fmla="val 16667" name="adj"/>
            </a:avLst>
          </a:prstGeom>
          <a:solidFill>
            <a:srgbClr val="A64D7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Medium"/>
                <a:ea typeface="Inter Medium"/>
                <a:cs typeface="Inter Medium"/>
                <a:sym typeface="Inter Medium"/>
              </a:rPr>
              <a:t>06</a:t>
            </a:r>
            <a:endParaRPr/>
          </a:p>
        </p:txBody>
      </p:sp>
      <p:sp>
        <p:nvSpPr>
          <p:cNvPr id="178" name="Google Shape;178;p20"/>
          <p:cNvSpPr txBox="1"/>
          <p:nvPr/>
        </p:nvSpPr>
        <p:spPr>
          <a:xfrm>
            <a:off x="1005840" y="274320"/>
            <a:ext cx="7772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400" u="none" cap="none" strike="noStrike">
                <a:solidFill>
                  <a:srgbClr val="000000"/>
                </a:solidFill>
                <a:latin typeface="Nunito"/>
                <a:ea typeface="Nunito"/>
                <a:cs typeface="Nunito"/>
                <a:sym typeface="Nunito"/>
              </a:rPr>
              <a:t>Stats: Attacks Blocked</a:t>
            </a:r>
            <a:endParaRPr>
              <a:latin typeface="Nunito"/>
              <a:ea typeface="Nunito"/>
              <a:cs typeface="Nunito"/>
              <a:sym typeface="Nunito"/>
            </a:endParaRPr>
          </a:p>
        </p:txBody>
      </p:sp>
      <p:sp>
        <p:nvSpPr>
          <p:cNvPr id="179" name="Google Shape;179;p20"/>
          <p:cNvSpPr txBox="1"/>
          <p:nvPr/>
        </p:nvSpPr>
        <p:spPr>
          <a:xfrm>
            <a:off x="1005840" y="914400"/>
            <a:ext cx="7772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200" u="none" cap="none" strike="noStrike">
                <a:solidFill>
                  <a:srgbClr val="666666"/>
                </a:solidFill>
                <a:latin typeface="Nunito"/>
                <a:ea typeface="Nunito"/>
                <a:cs typeface="Nunito"/>
                <a:sym typeface="Nunito"/>
              </a:rPr>
              <a:t>The numbers tell the story — every attack rejected, every valid message accepted.</a:t>
            </a:r>
            <a:endParaRPr>
              <a:latin typeface="Nunito"/>
              <a:ea typeface="Nunito"/>
              <a:cs typeface="Nunito"/>
              <a:sym typeface="Nunito"/>
            </a:endParaRPr>
          </a:p>
        </p:txBody>
      </p:sp>
      <p:sp>
        <p:nvSpPr>
          <p:cNvPr id="180" name="Google Shape;180;p20"/>
          <p:cNvSpPr/>
          <p:nvPr/>
        </p:nvSpPr>
        <p:spPr>
          <a:xfrm>
            <a:off x="977850" y="4036000"/>
            <a:ext cx="7188300" cy="756000"/>
          </a:xfrm>
          <a:prstGeom prst="roundRect">
            <a:avLst>
              <a:gd fmla="val 16667" name="adj"/>
            </a:avLst>
          </a:prstGeom>
          <a:solidFill>
            <a:srgbClr val="F5F5F5"/>
          </a:solidFill>
          <a:ln cap="flat" cmpd="sng" w="19050">
            <a:solidFill>
              <a:srgbClr val="666666"/>
            </a:solidFill>
            <a:prstDash val="dash"/>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100">
                <a:solidFill>
                  <a:srgbClr val="666666"/>
                </a:solidFill>
                <a:latin typeface="Nunito"/>
                <a:ea typeface="Nunito"/>
                <a:cs typeface="Nunito"/>
                <a:sym typeface="Nunito"/>
              </a:rPr>
              <a:t>The dashboard displays security events as they occur. During the live attack demonstration, message tampering was detected and blocked by the validation system, with the event reflected in the monitoring interface.</a:t>
            </a:r>
            <a:endParaRPr>
              <a:latin typeface="Nunito"/>
              <a:ea typeface="Nunito"/>
              <a:cs typeface="Nunito"/>
              <a:sym typeface="Nunito"/>
            </a:endParaRPr>
          </a:p>
        </p:txBody>
      </p:sp>
      <p:pic>
        <p:nvPicPr>
          <p:cNvPr id="181" name="Google Shape;181;p20" title="Screenshot 2026-10-05 at 3.28.50 PM.png"/>
          <p:cNvPicPr preferRelativeResize="0"/>
          <p:nvPr/>
        </p:nvPicPr>
        <p:blipFill rotWithShape="1">
          <a:blip r:embed="rId3">
            <a:alphaModFix/>
          </a:blip>
          <a:srcRect b="9214" l="0" r="1322" t="28778"/>
          <a:stretch/>
        </p:blipFill>
        <p:spPr>
          <a:xfrm>
            <a:off x="1395025" y="1332350"/>
            <a:ext cx="6420849" cy="25215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1"/>
          <p:cNvSpPr/>
          <p:nvPr/>
        </p:nvSpPr>
        <p:spPr>
          <a:xfrm>
            <a:off x="365760" y="274320"/>
            <a:ext cx="457200" cy="320040"/>
          </a:xfrm>
          <a:prstGeom prst="roundRect">
            <a:avLst>
              <a:gd fmla="val 16667" name="adj"/>
            </a:avLst>
          </a:prstGeom>
          <a:solidFill>
            <a:srgbClr val="A64D7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Medium"/>
                <a:ea typeface="Inter Medium"/>
                <a:cs typeface="Inter Medium"/>
                <a:sym typeface="Inter Medium"/>
              </a:rPr>
              <a:t>07</a:t>
            </a:r>
            <a:endParaRPr/>
          </a:p>
        </p:txBody>
      </p:sp>
      <p:sp>
        <p:nvSpPr>
          <p:cNvPr id="187" name="Google Shape;187;p21"/>
          <p:cNvSpPr txBox="1"/>
          <p:nvPr/>
        </p:nvSpPr>
        <p:spPr>
          <a:xfrm>
            <a:off x="1005840" y="274320"/>
            <a:ext cx="7772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400" u="none" cap="none" strike="noStrike">
                <a:solidFill>
                  <a:srgbClr val="000000"/>
                </a:solidFill>
                <a:latin typeface="Nunito"/>
                <a:ea typeface="Nunito"/>
                <a:cs typeface="Nunito"/>
                <a:sym typeface="Nunito"/>
              </a:rPr>
              <a:t>Custom Dashboard: Making It Mine</a:t>
            </a:r>
            <a:endParaRPr>
              <a:latin typeface="Nunito"/>
              <a:ea typeface="Nunito"/>
              <a:cs typeface="Nunito"/>
              <a:sym typeface="Nunito"/>
            </a:endParaRPr>
          </a:p>
        </p:txBody>
      </p:sp>
      <p:sp>
        <p:nvSpPr>
          <p:cNvPr id="188" name="Google Shape;188;p21"/>
          <p:cNvSpPr txBox="1"/>
          <p:nvPr/>
        </p:nvSpPr>
        <p:spPr>
          <a:xfrm>
            <a:off x="941940" y="669475"/>
            <a:ext cx="7772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200" u="none" cap="none" strike="noStrike">
                <a:solidFill>
                  <a:srgbClr val="666666"/>
                </a:solidFill>
                <a:latin typeface="Nunito"/>
                <a:ea typeface="Nunito"/>
                <a:cs typeface="Nunito"/>
                <a:sym typeface="Nunito"/>
              </a:rPr>
              <a:t>Personalized branding, AI-generated color theme, custom alert rules.</a:t>
            </a:r>
            <a:endParaRPr>
              <a:latin typeface="Nunito"/>
              <a:ea typeface="Nunito"/>
              <a:cs typeface="Nunito"/>
              <a:sym typeface="Nunito"/>
            </a:endParaRPr>
          </a:p>
        </p:txBody>
      </p:sp>
      <p:pic>
        <p:nvPicPr>
          <p:cNvPr id="189" name="Google Shape;189;p21" title="Dashboard full look.mov">
            <a:hlinkClick r:id="rId3"/>
          </p:cNvPr>
          <p:cNvPicPr preferRelativeResize="0"/>
          <p:nvPr/>
        </p:nvPicPr>
        <p:blipFill>
          <a:blip r:embed="rId4">
            <a:alphaModFix/>
          </a:blip>
          <a:stretch>
            <a:fillRect/>
          </a:stretch>
        </p:blipFill>
        <p:spPr>
          <a:xfrm>
            <a:off x="1005850" y="946375"/>
            <a:ext cx="7227749" cy="402042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1000"/>
                                        <p:tgtEl>
                                          <p:spTgt spid="1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2"/>
          <p:cNvSpPr/>
          <p:nvPr/>
        </p:nvSpPr>
        <p:spPr>
          <a:xfrm>
            <a:off x="370175" y="274325"/>
            <a:ext cx="453000" cy="337200"/>
          </a:xfrm>
          <a:prstGeom prst="roundRect">
            <a:avLst>
              <a:gd fmla="val 16667" name="adj"/>
            </a:avLst>
          </a:prstGeom>
          <a:solidFill>
            <a:srgbClr val="A64D79"/>
          </a:solidFill>
          <a:ln>
            <a:noFill/>
          </a:ln>
          <a:effectLst>
            <a:outerShdw blurRad="41739" rotWithShape="0" dir="5400000" dist="24000">
              <a:srgbClr val="000000">
                <a:alpha val="34900"/>
              </a:srgbClr>
            </a:outerShdw>
          </a:effectLst>
        </p:spPr>
        <p:txBody>
          <a:bodyPr anchorCtr="0" anchor="ctr" bIns="47675" lIns="95400" spcFirstLastPara="1" rIns="95400" wrap="square" tIns="47675">
            <a:noAutofit/>
          </a:bodyPr>
          <a:lstStyle/>
          <a:p>
            <a:pPr indent="0" lvl="0" marL="0" marR="0" rtl="0" algn="ctr">
              <a:spcBef>
                <a:spcPts val="0"/>
              </a:spcBef>
              <a:spcAft>
                <a:spcPts val="0"/>
              </a:spcAft>
              <a:buNone/>
            </a:pPr>
            <a:r>
              <a:rPr b="1" lang="en-US" sz="1043">
                <a:solidFill>
                  <a:srgbClr val="FFFFFF"/>
                </a:solidFill>
                <a:latin typeface="Inter Medium"/>
                <a:ea typeface="Inter Medium"/>
                <a:cs typeface="Inter Medium"/>
                <a:sym typeface="Inter Medium"/>
              </a:rPr>
              <a:t>08</a:t>
            </a:r>
            <a:endParaRPr sz="1461"/>
          </a:p>
        </p:txBody>
      </p:sp>
      <p:sp>
        <p:nvSpPr>
          <p:cNvPr id="195" name="Google Shape;195;p22"/>
          <p:cNvSpPr txBox="1"/>
          <p:nvPr/>
        </p:nvSpPr>
        <p:spPr>
          <a:xfrm>
            <a:off x="1033660" y="274325"/>
            <a:ext cx="8110200" cy="481800"/>
          </a:xfrm>
          <a:prstGeom prst="rect">
            <a:avLst/>
          </a:prstGeom>
          <a:noFill/>
          <a:ln>
            <a:noFill/>
          </a:ln>
        </p:spPr>
        <p:txBody>
          <a:bodyPr anchorCtr="0" anchor="t" bIns="47675" lIns="95400" spcFirstLastPara="1" rIns="95400" wrap="square" tIns="47675">
            <a:spAutoFit/>
          </a:bodyPr>
          <a:lstStyle/>
          <a:p>
            <a:pPr indent="0" lvl="0" marL="0" marR="0" rtl="0" algn="l">
              <a:spcBef>
                <a:spcPts val="0"/>
              </a:spcBef>
              <a:spcAft>
                <a:spcPts val="0"/>
              </a:spcAft>
              <a:buNone/>
            </a:pPr>
            <a:r>
              <a:rPr b="0" i="0" lang="en-US" sz="2504" u="none" cap="none" strike="noStrike">
                <a:solidFill>
                  <a:srgbClr val="000000"/>
                </a:solidFill>
                <a:latin typeface="DM Serif Text"/>
                <a:ea typeface="DM Serif Text"/>
                <a:cs typeface="DM Serif Text"/>
                <a:sym typeface="DM Serif Text"/>
              </a:rPr>
              <a:t>AI-Powered Anomaly Detection</a:t>
            </a:r>
            <a:endParaRPr sz="1461"/>
          </a:p>
        </p:txBody>
      </p:sp>
      <p:sp>
        <p:nvSpPr>
          <p:cNvPr id="196" name="Google Shape;196;p22"/>
          <p:cNvSpPr txBox="1"/>
          <p:nvPr/>
        </p:nvSpPr>
        <p:spPr>
          <a:xfrm>
            <a:off x="605035" y="756132"/>
            <a:ext cx="8110200" cy="288900"/>
          </a:xfrm>
          <a:prstGeom prst="rect">
            <a:avLst/>
          </a:prstGeom>
          <a:noFill/>
          <a:ln>
            <a:noFill/>
          </a:ln>
        </p:spPr>
        <p:txBody>
          <a:bodyPr anchorCtr="0" anchor="t" bIns="47675" lIns="95400" spcFirstLastPara="1" rIns="95400" wrap="square" tIns="47675">
            <a:spAutoFit/>
          </a:bodyPr>
          <a:lstStyle/>
          <a:p>
            <a:pPr indent="0" lvl="0" marL="0" marR="0" rtl="0" algn="l">
              <a:spcBef>
                <a:spcPts val="0"/>
              </a:spcBef>
              <a:spcAft>
                <a:spcPts val="0"/>
              </a:spcAft>
              <a:buNone/>
            </a:pPr>
            <a:r>
              <a:rPr b="0" i="0" lang="en-US" sz="1252" u="none" cap="none" strike="noStrike">
                <a:solidFill>
                  <a:srgbClr val="666666"/>
                </a:solidFill>
                <a:latin typeface="Inter"/>
                <a:ea typeface="Inter"/>
                <a:cs typeface="Inter"/>
                <a:sym typeface="Inter"/>
              </a:rPr>
              <a:t>Teaching the dashboard to catch what rules can’t — using machine learning.</a:t>
            </a:r>
            <a:endParaRPr sz="1461"/>
          </a:p>
        </p:txBody>
      </p:sp>
      <p:sp>
        <p:nvSpPr>
          <p:cNvPr id="197" name="Google Shape;197;p22"/>
          <p:cNvSpPr/>
          <p:nvPr/>
        </p:nvSpPr>
        <p:spPr>
          <a:xfrm>
            <a:off x="780385" y="1612464"/>
            <a:ext cx="2385300" cy="1526700"/>
          </a:xfrm>
          <a:prstGeom prst="roundRect">
            <a:avLst>
              <a:gd fmla="val 16667" name="adj"/>
            </a:avLst>
          </a:prstGeom>
          <a:solidFill>
            <a:srgbClr val="FFFFFF"/>
          </a:solidFill>
          <a:ln cap="flat" cmpd="sng" w="33125">
            <a:solidFill>
              <a:srgbClr val="07A657"/>
            </a:solidFill>
            <a:prstDash val="solid"/>
            <a:round/>
            <a:headEnd len="sm" w="sm" type="none"/>
            <a:tailEnd len="sm" w="sm" type="none"/>
          </a:ln>
          <a:effectLst>
            <a:outerShdw blurRad="41739" rotWithShape="0" dir="5400000" dist="24000">
              <a:srgbClr val="000000">
                <a:alpha val="34900"/>
              </a:srgbClr>
            </a:outerShdw>
          </a:effectLst>
        </p:spPr>
        <p:txBody>
          <a:bodyPr anchorCtr="0" anchor="ctr" bIns="47675" lIns="95400" spcFirstLastPara="1" rIns="95400" wrap="square" tIns="47675">
            <a:noAutofit/>
          </a:bodyPr>
          <a:lstStyle/>
          <a:p>
            <a:pPr indent="0" lvl="0" marL="0" marR="0" rtl="0" algn="ctr">
              <a:spcBef>
                <a:spcPts val="0"/>
              </a:spcBef>
              <a:spcAft>
                <a:spcPts val="0"/>
              </a:spcAft>
              <a:buNone/>
            </a:pPr>
            <a:r>
              <a:t/>
            </a:r>
            <a:endParaRPr b="0" i="0" sz="1878" u="none" cap="none" strike="noStrike">
              <a:solidFill>
                <a:srgbClr val="000000"/>
              </a:solidFill>
              <a:latin typeface="Calibri"/>
              <a:ea typeface="Calibri"/>
              <a:cs typeface="Calibri"/>
              <a:sym typeface="Calibri"/>
            </a:endParaRPr>
          </a:p>
        </p:txBody>
      </p:sp>
      <p:sp>
        <p:nvSpPr>
          <p:cNvPr id="198" name="Google Shape;198;p22"/>
          <p:cNvSpPr/>
          <p:nvPr/>
        </p:nvSpPr>
        <p:spPr>
          <a:xfrm>
            <a:off x="1448170" y="1467017"/>
            <a:ext cx="1049700" cy="286200"/>
          </a:xfrm>
          <a:prstGeom prst="roundRect">
            <a:avLst>
              <a:gd fmla="val 16667" name="adj"/>
            </a:avLst>
          </a:prstGeom>
          <a:solidFill>
            <a:srgbClr val="07A657"/>
          </a:solidFill>
          <a:ln>
            <a:noFill/>
          </a:ln>
          <a:effectLst>
            <a:outerShdw blurRad="41739" rotWithShape="0" dir="5400000" dist="24000">
              <a:srgbClr val="000000">
                <a:alpha val="34900"/>
              </a:srgbClr>
            </a:outerShdw>
          </a:effectLst>
        </p:spPr>
        <p:txBody>
          <a:bodyPr anchorCtr="0" anchor="ctr" bIns="47675" lIns="95400" spcFirstLastPara="1" rIns="95400" wrap="square" tIns="47675">
            <a:noAutofit/>
          </a:bodyPr>
          <a:lstStyle/>
          <a:p>
            <a:pPr indent="0" lvl="0" marL="0" marR="0" rtl="0" algn="ctr">
              <a:spcBef>
                <a:spcPts val="0"/>
              </a:spcBef>
              <a:spcAft>
                <a:spcPts val="0"/>
              </a:spcAft>
              <a:buNone/>
            </a:pPr>
            <a:r>
              <a:rPr b="1" i="0" lang="en-US" sz="939" u="none" cap="none" strike="noStrike">
                <a:solidFill>
                  <a:srgbClr val="FFFFFF"/>
                </a:solidFill>
                <a:latin typeface="Inter Medium"/>
                <a:ea typeface="Inter Medium"/>
                <a:cs typeface="Inter Medium"/>
                <a:sym typeface="Inter Medium"/>
              </a:rPr>
              <a:t>Green</a:t>
            </a:r>
            <a:endParaRPr sz="1461"/>
          </a:p>
        </p:txBody>
      </p:sp>
      <p:sp>
        <p:nvSpPr>
          <p:cNvPr id="199" name="Google Shape;199;p22"/>
          <p:cNvSpPr txBox="1"/>
          <p:nvPr/>
        </p:nvSpPr>
        <p:spPr>
          <a:xfrm>
            <a:off x="971166" y="1847048"/>
            <a:ext cx="2003700" cy="337200"/>
          </a:xfrm>
          <a:prstGeom prst="rect">
            <a:avLst/>
          </a:prstGeom>
          <a:noFill/>
          <a:ln>
            <a:noFill/>
          </a:ln>
        </p:spPr>
        <p:txBody>
          <a:bodyPr anchorCtr="0" anchor="t" bIns="47675" lIns="95400" spcFirstLastPara="1" rIns="95400" wrap="square" tIns="47675">
            <a:spAutoFit/>
          </a:bodyPr>
          <a:lstStyle/>
          <a:p>
            <a:pPr indent="0" lvl="0" marL="0" marR="0" rtl="0" algn="ctr">
              <a:spcBef>
                <a:spcPts val="0"/>
              </a:spcBef>
              <a:spcAft>
                <a:spcPts val="0"/>
              </a:spcAft>
              <a:buNone/>
            </a:pPr>
            <a:r>
              <a:rPr b="0" i="0" lang="en-US" sz="1565" u="none" cap="none" strike="noStrike">
                <a:solidFill>
                  <a:srgbClr val="07A657"/>
                </a:solidFill>
                <a:latin typeface="DM Serif Text"/>
                <a:ea typeface="DM Serif Text"/>
                <a:cs typeface="DM Serif Text"/>
                <a:sym typeface="DM Serif Text"/>
              </a:rPr>
              <a:t>Normal</a:t>
            </a:r>
            <a:endParaRPr sz="1461"/>
          </a:p>
        </p:txBody>
      </p:sp>
      <p:sp>
        <p:nvSpPr>
          <p:cNvPr id="200" name="Google Shape;200;p22"/>
          <p:cNvSpPr txBox="1"/>
          <p:nvPr/>
        </p:nvSpPr>
        <p:spPr>
          <a:xfrm>
            <a:off x="971166" y="2247422"/>
            <a:ext cx="2003700" cy="738900"/>
          </a:xfrm>
          <a:prstGeom prst="rect">
            <a:avLst/>
          </a:prstGeom>
          <a:noFill/>
          <a:ln>
            <a:noFill/>
          </a:ln>
        </p:spPr>
        <p:txBody>
          <a:bodyPr anchorCtr="0" anchor="t" bIns="47675" lIns="95400" spcFirstLastPara="1" rIns="95400" wrap="square" tIns="47675">
            <a:spAutoFit/>
          </a:bodyPr>
          <a:lstStyle/>
          <a:p>
            <a:pPr indent="0" lvl="0" marL="0" marR="0" rtl="0" algn="just">
              <a:spcBef>
                <a:spcPts val="0"/>
              </a:spcBef>
              <a:spcAft>
                <a:spcPts val="0"/>
              </a:spcAft>
              <a:buNone/>
            </a:pPr>
            <a:r>
              <a:rPr lang="en-US" sz="1043">
                <a:solidFill>
                  <a:srgbClr val="666666"/>
                </a:solidFill>
                <a:latin typeface="Inter"/>
                <a:ea typeface="Inter"/>
                <a:cs typeface="Inter"/>
                <a:sym typeface="Inter"/>
              </a:rPr>
              <a:t> Sensor readings pass security checks and are classified as normal by the AI model.</a:t>
            </a:r>
            <a:endParaRPr sz="1461"/>
          </a:p>
        </p:txBody>
      </p:sp>
      <p:sp>
        <p:nvSpPr>
          <p:cNvPr id="201" name="Google Shape;201;p22"/>
          <p:cNvSpPr/>
          <p:nvPr/>
        </p:nvSpPr>
        <p:spPr>
          <a:xfrm>
            <a:off x="3609926" y="1612464"/>
            <a:ext cx="2385300" cy="1526700"/>
          </a:xfrm>
          <a:prstGeom prst="roundRect">
            <a:avLst>
              <a:gd fmla="val 16667" name="adj"/>
            </a:avLst>
          </a:prstGeom>
          <a:solidFill>
            <a:srgbClr val="FFFFFF"/>
          </a:solidFill>
          <a:ln cap="flat" cmpd="sng" w="33125">
            <a:solidFill>
              <a:srgbClr val="F57C00"/>
            </a:solidFill>
            <a:prstDash val="solid"/>
            <a:round/>
            <a:headEnd len="sm" w="sm" type="none"/>
            <a:tailEnd len="sm" w="sm" type="none"/>
          </a:ln>
          <a:effectLst>
            <a:outerShdw blurRad="41739" rotWithShape="0" dir="5400000" dist="24000">
              <a:srgbClr val="000000">
                <a:alpha val="34900"/>
              </a:srgbClr>
            </a:outerShdw>
          </a:effectLst>
        </p:spPr>
        <p:txBody>
          <a:bodyPr anchorCtr="0" anchor="ctr" bIns="47675" lIns="95400" spcFirstLastPara="1" rIns="95400" wrap="square" tIns="47675">
            <a:noAutofit/>
          </a:bodyPr>
          <a:lstStyle/>
          <a:p>
            <a:pPr indent="0" lvl="0" marL="0" marR="0" rtl="0" algn="ctr">
              <a:spcBef>
                <a:spcPts val="0"/>
              </a:spcBef>
              <a:spcAft>
                <a:spcPts val="0"/>
              </a:spcAft>
              <a:buNone/>
            </a:pPr>
            <a:r>
              <a:t/>
            </a:r>
            <a:endParaRPr b="0" i="0" sz="1878" u="none" cap="none" strike="noStrike">
              <a:solidFill>
                <a:srgbClr val="000000"/>
              </a:solidFill>
              <a:latin typeface="Calibri"/>
              <a:ea typeface="Calibri"/>
              <a:cs typeface="Calibri"/>
              <a:sym typeface="Calibri"/>
            </a:endParaRPr>
          </a:p>
        </p:txBody>
      </p:sp>
      <p:sp>
        <p:nvSpPr>
          <p:cNvPr id="202" name="Google Shape;202;p22"/>
          <p:cNvSpPr/>
          <p:nvPr/>
        </p:nvSpPr>
        <p:spPr>
          <a:xfrm>
            <a:off x="4277737" y="1467017"/>
            <a:ext cx="1049700" cy="286200"/>
          </a:xfrm>
          <a:prstGeom prst="roundRect">
            <a:avLst>
              <a:gd fmla="val 16667" name="adj"/>
            </a:avLst>
          </a:prstGeom>
          <a:solidFill>
            <a:srgbClr val="F57C00"/>
          </a:solidFill>
          <a:ln>
            <a:noFill/>
          </a:ln>
          <a:effectLst>
            <a:outerShdw blurRad="41739" rotWithShape="0" dir="5400000" dist="24000">
              <a:srgbClr val="000000">
                <a:alpha val="34900"/>
              </a:srgbClr>
            </a:outerShdw>
          </a:effectLst>
        </p:spPr>
        <p:txBody>
          <a:bodyPr anchorCtr="0" anchor="ctr" bIns="47675" lIns="95400" spcFirstLastPara="1" rIns="95400" wrap="square" tIns="47675">
            <a:noAutofit/>
          </a:bodyPr>
          <a:lstStyle/>
          <a:p>
            <a:pPr indent="0" lvl="0" marL="0" marR="0" rtl="0" algn="ctr">
              <a:spcBef>
                <a:spcPts val="0"/>
              </a:spcBef>
              <a:spcAft>
                <a:spcPts val="0"/>
              </a:spcAft>
              <a:buNone/>
            </a:pPr>
            <a:r>
              <a:rPr b="1" i="0" lang="en-US" sz="939" u="none" cap="none" strike="noStrike">
                <a:solidFill>
                  <a:srgbClr val="FFFFFF"/>
                </a:solidFill>
                <a:latin typeface="Inter Medium"/>
                <a:ea typeface="Inter Medium"/>
                <a:cs typeface="Inter Medium"/>
                <a:sym typeface="Inter Medium"/>
              </a:rPr>
              <a:t>Orange</a:t>
            </a:r>
            <a:endParaRPr sz="1461"/>
          </a:p>
        </p:txBody>
      </p:sp>
      <p:sp>
        <p:nvSpPr>
          <p:cNvPr id="203" name="Google Shape;203;p22"/>
          <p:cNvSpPr txBox="1"/>
          <p:nvPr/>
        </p:nvSpPr>
        <p:spPr>
          <a:xfrm>
            <a:off x="3800720" y="1847035"/>
            <a:ext cx="2003700" cy="337200"/>
          </a:xfrm>
          <a:prstGeom prst="rect">
            <a:avLst/>
          </a:prstGeom>
          <a:noFill/>
          <a:ln>
            <a:noFill/>
          </a:ln>
        </p:spPr>
        <p:txBody>
          <a:bodyPr anchorCtr="0" anchor="t" bIns="47675" lIns="95400" spcFirstLastPara="1" rIns="95400" wrap="square" tIns="47675">
            <a:spAutoFit/>
          </a:bodyPr>
          <a:lstStyle/>
          <a:p>
            <a:pPr indent="0" lvl="0" marL="0" marR="0" rtl="0" algn="ctr">
              <a:spcBef>
                <a:spcPts val="0"/>
              </a:spcBef>
              <a:spcAft>
                <a:spcPts val="0"/>
              </a:spcAft>
              <a:buNone/>
            </a:pPr>
            <a:r>
              <a:rPr b="0" i="0" lang="en-US" sz="1565" u="none" cap="none" strike="noStrike">
                <a:solidFill>
                  <a:srgbClr val="F57C00"/>
                </a:solidFill>
                <a:latin typeface="DM Serif Text"/>
                <a:ea typeface="DM Serif Text"/>
                <a:cs typeface="DM Serif Text"/>
                <a:sym typeface="DM Serif Text"/>
              </a:rPr>
              <a:t>AI Flagged</a:t>
            </a:r>
            <a:endParaRPr sz="1461"/>
          </a:p>
        </p:txBody>
      </p:sp>
      <p:sp>
        <p:nvSpPr>
          <p:cNvPr id="204" name="Google Shape;204;p22"/>
          <p:cNvSpPr txBox="1"/>
          <p:nvPr/>
        </p:nvSpPr>
        <p:spPr>
          <a:xfrm>
            <a:off x="3800733" y="2247422"/>
            <a:ext cx="2003700" cy="738900"/>
          </a:xfrm>
          <a:prstGeom prst="rect">
            <a:avLst/>
          </a:prstGeom>
          <a:noFill/>
          <a:ln>
            <a:noFill/>
          </a:ln>
        </p:spPr>
        <p:txBody>
          <a:bodyPr anchorCtr="0" anchor="t" bIns="47675" lIns="95400" spcFirstLastPara="1" rIns="95400" wrap="square" tIns="47675">
            <a:spAutoFit/>
          </a:bodyPr>
          <a:lstStyle/>
          <a:p>
            <a:pPr indent="0" lvl="0" marL="0" rtl="0" algn="ctr">
              <a:spcBef>
                <a:spcPts val="0"/>
              </a:spcBef>
              <a:spcAft>
                <a:spcPts val="0"/>
              </a:spcAft>
              <a:buClr>
                <a:srgbClr val="000000"/>
              </a:buClr>
              <a:buFont typeface="Arial"/>
              <a:buNone/>
            </a:pPr>
            <a:r>
              <a:rPr lang="en-US" sz="1043">
                <a:solidFill>
                  <a:srgbClr val="666666"/>
                </a:solidFill>
                <a:latin typeface="Inter"/>
                <a:ea typeface="Inter"/>
                <a:cs typeface="Inter"/>
                <a:sym typeface="Inter"/>
              </a:rPr>
              <a:t>Messages pass rule-based checks but are flagged by AI for unusual sensor behavior.</a:t>
            </a:r>
            <a:endParaRPr sz="1461">
              <a:solidFill>
                <a:srgbClr val="000000"/>
              </a:solidFill>
            </a:endParaRPr>
          </a:p>
          <a:p>
            <a:pPr indent="0" lvl="0" marL="0" marR="0" rtl="0" algn="ctr">
              <a:spcBef>
                <a:spcPts val="0"/>
              </a:spcBef>
              <a:spcAft>
                <a:spcPts val="0"/>
              </a:spcAft>
              <a:buNone/>
            </a:pPr>
            <a:r>
              <a:t/>
            </a:r>
            <a:endParaRPr sz="1043">
              <a:solidFill>
                <a:srgbClr val="666666"/>
              </a:solidFill>
              <a:latin typeface="Inter"/>
              <a:ea typeface="Inter"/>
              <a:cs typeface="Inter"/>
              <a:sym typeface="Inter"/>
            </a:endParaRPr>
          </a:p>
        </p:txBody>
      </p:sp>
      <p:sp>
        <p:nvSpPr>
          <p:cNvPr id="205" name="Google Shape;205;p22"/>
          <p:cNvSpPr/>
          <p:nvPr/>
        </p:nvSpPr>
        <p:spPr>
          <a:xfrm>
            <a:off x="6439466" y="1612464"/>
            <a:ext cx="2385300" cy="1526700"/>
          </a:xfrm>
          <a:prstGeom prst="roundRect">
            <a:avLst>
              <a:gd fmla="val 16667" name="adj"/>
            </a:avLst>
          </a:prstGeom>
          <a:solidFill>
            <a:srgbClr val="FFFFFF"/>
          </a:solidFill>
          <a:ln cap="flat" cmpd="sng" w="33125">
            <a:solidFill>
              <a:srgbClr val="FF2600"/>
            </a:solidFill>
            <a:prstDash val="solid"/>
            <a:round/>
            <a:headEnd len="sm" w="sm" type="none"/>
            <a:tailEnd len="sm" w="sm" type="none"/>
          </a:ln>
          <a:effectLst>
            <a:outerShdw blurRad="41739" rotWithShape="0" dir="5400000" dist="24000">
              <a:srgbClr val="000000">
                <a:alpha val="34900"/>
              </a:srgbClr>
            </a:outerShdw>
          </a:effectLst>
        </p:spPr>
        <p:txBody>
          <a:bodyPr anchorCtr="0" anchor="ctr" bIns="47675" lIns="95400" spcFirstLastPara="1" rIns="95400" wrap="square" tIns="47675">
            <a:noAutofit/>
          </a:bodyPr>
          <a:lstStyle/>
          <a:p>
            <a:pPr indent="0" lvl="0" marL="0" marR="0" rtl="0" algn="ctr">
              <a:spcBef>
                <a:spcPts val="0"/>
              </a:spcBef>
              <a:spcAft>
                <a:spcPts val="0"/>
              </a:spcAft>
              <a:buNone/>
            </a:pPr>
            <a:r>
              <a:t/>
            </a:r>
            <a:endParaRPr b="0" i="0" sz="1878" u="none" cap="none" strike="noStrike">
              <a:solidFill>
                <a:srgbClr val="000000"/>
              </a:solidFill>
              <a:latin typeface="Calibri"/>
              <a:ea typeface="Calibri"/>
              <a:cs typeface="Calibri"/>
              <a:sym typeface="Calibri"/>
            </a:endParaRPr>
          </a:p>
        </p:txBody>
      </p:sp>
      <p:sp>
        <p:nvSpPr>
          <p:cNvPr id="206" name="Google Shape;206;p22"/>
          <p:cNvSpPr/>
          <p:nvPr/>
        </p:nvSpPr>
        <p:spPr>
          <a:xfrm>
            <a:off x="7044777" y="1467017"/>
            <a:ext cx="1049700" cy="286200"/>
          </a:xfrm>
          <a:prstGeom prst="roundRect">
            <a:avLst>
              <a:gd fmla="val 16667" name="adj"/>
            </a:avLst>
          </a:prstGeom>
          <a:solidFill>
            <a:srgbClr val="FF2600"/>
          </a:solidFill>
          <a:ln>
            <a:noFill/>
          </a:ln>
          <a:effectLst>
            <a:outerShdw blurRad="41739" rotWithShape="0" dir="5400000" dist="24000">
              <a:srgbClr val="000000">
                <a:alpha val="34900"/>
              </a:srgbClr>
            </a:outerShdw>
          </a:effectLst>
        </p:spPr>
        <p:txBody>
          <a:bodyPr anchorCtr="0" anchor="ctr" bIns="47675" lIns="95400" spcFirstLastPara="1" rIns="95400" wrap="square" tIns="47675">
            <a:noAutofit/>
          </a:bodyPr>
          <a:lstStyle/>
          <a:p>
            <a:pPr indent="0" lvl="0" marL="0" marR="0" rtl="0" algn="ctr">
              <a:spcBef>
                <a:spcPts val="0"/>
              </a:spcBef>
              <a:spcAft>
                <a:spcPts val="0"/>
              </a:spcAft>
              <a:buNone/>
            </a:pPr>
            <a:r>
              <a:rPr b="1" i="0" lang="en-US" sz="939" u="none" cap="none" strike="noStrike">
                <a:solidFill>
                  <a:srgbClr val="FFFFFF"/>
                </a:solidFill>
                <a:latin typeface="Inter Medium"/>
                <a:ea typeface="Inter Medium"/>
                <a:cs typeface="Inter Medium"/>
                <a:sym typeface="Inter Medium"/>
              </a:rPr>
              <a:t>Red</a:t>
            </a:r>
            <a:endParaRPr sz="1461"/>
          </a:p>
        </p:txBody>
      </p:sp>
      <p:sp>
        <p:nvSpPr>
          <p:cNvPr id="207" name="Google Shape;207;p22"/>
          <p:cNvSpPr txBox="1"/>
          <p:nvPr/>
        </p:nvSpPr>
        <p:spPr>
          <a:xfrm>
            <a:off x="6711523" y="1847048"/>
            <a:ext cx="2003700" cy="337200"/>
          </a:xfrm>
          <a:prstGeom prst="rect">
            <a:avLst/>
          </a:prstGeom>
          <a:noFill/>
          <a:ln>
            <a:noFill/>
          </a:ln>
        </p:spPr>
        <p:txBody>
          <a:bodyPr anchorCtr="0" anchor="t" bIns="47675" lIns="95400" spcFirstLastPara="1" rIns="95400" wrap="square" tIns="47675">
            <a:spAutoFit/>
          </a:bodyPr>
          <a:lstStyle/>
          <a:p>
            <a:pPr indent="0" lvl="0" marL="0" marR="0" rtl="0" algn="ctr">
              <a:spcBef>
                <a:spcPts val="0"/>
              </a:spcBef>
              <a:spcAft>
                <a:spcPts val="0"/>
              </a:spcAft>
              <a:buNone/>
            </a:pPr>
            <a:r>
              <a:rPr b="0" i="0" lang="en-US" sz="1565" u="none" cap="none" strike="noStrike">
                <a:solidFill>
                  <a:srgbClr val="FF2600"/>
                </a:solidFill>
                <a:latin typeface="DM Serif Text"/>
                <a:ea typeface="DM Serif Text"/>
                <a:cs typeface="DM Serif Text"/>
                <a:sym typeface="DM Serif Text"/>
              </a:rPr>
              <a:t>Blocked</a:t>
            </a:r>
            <a:endParaRPr sz="1461"/>
          </a:p>
        </p:txBody>
      </p:sp>
      <p:sp>
        <p:nvSpPr>
          <p:cNvPr id="208" name="Google Shape;208;p22"/>
          <p:cNvSpPr txBox="1"/>
          <p:nvPr/>
        </p:nvSpPr>
        <p:spPr>
          <a:xfrm>
            <a:off x="6630273" y="2175222"/>
            <a:ext cx="2003700" cy="1059900"/>
          </a:xfrm>
          <a:prstGeom prst="rect">
            <a:avLst/>
          </a:prstGeom>
          <a:noFill/>
          <a:ln>
            <a:noFill/>
          </a:ln>
        </p:spPr>
        <p:txBody>
          <a:bodyPr anchorCtr="0" anchor="t" bIns="47675" lIns="95400" spcFirstLastPara="1" rIns="95400" wrap="square" tIns="47675">
            <a:spAutoFit/>
          </a:bodyPr>
          <a:lstStyle/>
          <a:p>
            <a:pPr indent="0" lvl="0" marL="0" rtl="0" algn="ctr">
              <a:spcBef>
                <a:spcPts val="0"/>
              </a:spcBef>
              <a:spcAft>
                <a:spcPts val="0"/>
              </a:spcAft>
              <a:buClr>
                <a:srgbClr val="000000"/>
              </a:buClr>
              <a:buFont typeface="Arial"/>
              <a:buNone/>
            </a:pPr>
            <a:r>
              <a:rPr lang="en-US" sz="1043">
                <a:solidFill>
                  <a:srgbClr val="666666"/>
                </a:solidFill>
                <a:latin typeface="Inter"/>
                <a:ea typeface="Inter"/>
                <a:cs typeface="Inter"/>
                <a:sym typeface="Inter"/>
              </a:rPr>
              <a:t>Invalid or malicious messages are rejected by HMAC, timestamp, or sequence validation before AI scoring.</a:t>
            </a:r>
            <a:endParaRPr sz="1461">
              <a:solidFill>
                <a:srgbClr val="000000"/>
              </a:solidFill>
            </a:endParaRPr>
          </a:p>
          <a:p>
            <a:pPr indent="0" lvl="0" marL="0" marR="0" rtl="0" algn="ctr">
              <a:spcBef>
                <a:spcPts val="0"/>
              </a:spcBef>
              <a:spcAft>
                <a:spcPts val="0"/>
              </a:spcAft>
              <a:buNone/>
            </a:pPr>
            <a:r>
              <a:t/>
            </a:r>
            <a:endParaRPr sz="1043">
              <a:solidFill>
                <a:srgbClr val="666666"/>
              </a:solidFill>
              <a:latin typeface="Inter"/>
              <a:ea typeface="Inter"/>
              <a:cs typeface="Inter"/>
              <a:sym typeface="Inter"/>
            </a:endParaRPr>
          </a:p>
        </p:txBody>
      </p:sp>
      <p:sp>
        <p:nvSpPr>
          <p:cNvPr id="209" name="Google Shape;209;p22"/>
          <p:cNvSpPr txBox="1"/>
          <p:nvPr/>
        </p:nvSpPr>
        <p:spPr>
          <a:xfrm>
            <a:off x="843535" y="3430855"/>
            <a:ext cx="7633200" cy="273000"/>
          </a:xfrm>
          <a:prstGeom prst="rect">
            <a:avLst/>
          </a:prstGeom>
          <a:noFill/>
          <a:ln>
            <a:noFill/>
          </a:ln>
        </p:spPr>
        <p:txBody>
          <a:bodyPr anchorCtr="0" anchor="t" bIns="47675" lIns="95400" spcFirstLastPara="1" rIns="95400" wrap="square" tIns="47675">
            <a:spAutoFit/>
          </a:bodyPr>
          <a:lstStyle/>
          <a:p>
            <a:pPr indent="0" lvl="0" marL="0" marR="0" rtl="0" algn="ctr">
              <a:spcBef>
                <a:spcPts val="0"/>
              </a:spcBef>
              <a:spcAft>
                <a:spcPts val="0"/>
              </a:spcAft>
              <a:buNone/>
            </a:pPr>
            <a:r>
              <a:rPr b="0" i="0" lang="en-US" sz="1148" u="none" cap="none" strike="noStrike">
                <a:solidFill>
                  <a:srgbClr val="2550D0"/>
                </a:solidFill>
                <a:latin typeface="Inter Medium"/>
                <a:ea typeface="Inter Medium"/>
                <a:cs typeface="Inter Medium"/>
                <a:sym typeface="Inter Medium"/>
              </a:rPr>
              <a:t>Model Used: </a:t>
            </a:r>
            <a:r>
              <a:rPr lang="en-US" sz="1148">
                <a:solidFill>
                  <a:srgbClr val="2550D0"/>
                </a:solidFill>
                <a:latin typeface="Inter Medium"/>
                <a:ea typeface="Inter Medium"/>
                <a:cs typeface="Inter Medium"/>
                <a:sym typeface="Inter Medium"/>
              </a:rPr>
              <a:t>Isolation Forest (contamination = 0.03)</a:t>
            </a:r>
            <a:r>
              <a:rPr b="0" i="0" lang="en-US" sz="1148" u="none" cap="none" strike="noStrike">
                <a:solidFill>
                  <a:srgbClr val="2550D0"/>
                </a:solidFill>
                <a:latin typeface="Inter Medium"/>
                <a:ea typeface="Inter Medium"/>
                <a:cs typeface="Inter Medium"/>
                <a:sym typeface="Inter Medium"/>
              </a:rPr>
              <a:t>  |   Precision:  </a:t>
            </a:r>
            <a:r>
              <a:rPr lang="en-US" sz="1148">
                <a:solidFill>
                  <a:srgbClr val="2550D0"/>
                </a:solidFill>
                <a:latin typeface="Inter Medium"/>
                <a:ea typeface="Inter Medium"/>
                <a:cs typeface="Inter Medium"/>
                <a:sym typeface="Inter Medium"/>
              </a:rPr>
              <a:t>1.000</a:t>
            </a:r>
            <a:r>
              <a:rPr b="0" i="0" lang="en-US" sz="1148" u="none" cap="none" strike="noStrike">
                <a:solidFill>
                  <a:srgbClr val="2550D0"/>
                </a:solidFill>
                <a:latin typeface="Inter Medium"/>
                <a:ea typeface="Inter Medium"/>
                <a:cs typeface="Inter Medium"/>
                <a:sym typeface="Inter Medium"/>
              </a:rPr>
              <a:t>  |   Recall: </a:t>
            </a:r>
            <a:r>
              <a:rPr lang="en-US" sz="1148">
                <a:solidFill>
                  <a:srgbClr val="2550D0"/>
                </a:solidFill>
                <a:latin typeface="Inter Medium"/>
                <a:ea typeface="Inter Medium"/>
                <a:cs typeface="Inter Medium"/>
                <a:sym typeface="Inter Medium"/>
              </a:rPr>
              <a:t>0.640</a:t>
            </a:r>
            <a:r>
              <a:rPr b="0" i="0" lang="en-US" sz="1148" u="none" cap="none" strike="noStrike">
                <a:solidFill>
                  <a:srgbClr val="2550D0"/>
                </a:solidFill>
                <a:latin typeface="Inter Medium"/>
                <a:ea typeface="Inter Medium"/>
                <a:cs typeface="Inter Medium"/>
                <a:sym typeface="Inter Medium"/>
              </a:rPr>
              <a:t>   |   F1: </a:t>
            </a:r>
            <a:r>
              <a:rPr lang="en-US" sz="1148">
                <a:solidFill>
                  <a:srgbClr val="2550D0"/>
                </a:solidFill>
                <a:latin typeface="Inter Medium"/>
                <a:ea typeface="Inter Medium"/>
                <a:cs typeface="Inter Medium"/>
                <a:sym typeface="Inter Medium"/>
              </a:rPr>
              <a:t>0.780</a:t>
            </a:r>
            <a:endParaRPr sz="1461"/>
          </a:p>
        </p:txBody>
      </p:sp>
      <p:sp>
        <p:nvSpPr>
          <p:cNvPr id="210" name="Google Shape;210;p22"/>
          <p:cNvSpPr txBox="1"/>
          <p:nvPr/>
        </p:nvSpPr>
        <p:spPr>
          <a:xfrm>
            <a:off x="1033660" y="3995522"/>
            <a:ext cx="7633200" cy="626400"/>
          </a:xfrm>
          <a:prstGeom prst="rect">
            <a:avLst/>
          </a:prstGeom>
          <a:noFill/>
          <a:ln>
            <a:noFill/>
          </a:ln>
        </p:spPr>
        <p:txBody>
          <a:bodyPr anchorCtr="0" anchor="t" bIns="47675" lIns="95400" spcFirstLastPara="1" rIns="95400" wrap="square" tIns="47675">
            <a:spAutoFit/>
          </a:bodyPr>
          <a:lstStyle/>
          <a:p>
            <a:pPr indent="0" lvl="0" marL="0" marR="0" rtl="0" algn="ctr">
              <a:spcBef>
                <a:spcPts val="0"/>
              </a:spcBef>
              <a:spcAft>
                <a:spcPts val="0"/>
              </a:spcAft>
              <a:buNone/>
            </a:pPr>
            <a:r>
              <a:rPr b="0" i="0" lang="en-US" sz="1148" u="none" cap="none" strike="noStrike">
                <a:solidFill>
                  <a:srgbClr val="666666"/>
                </a:solidFill>
                <a:latin typeface="Inter"/>
                <a:ea typeface="Inter"/>
                <a:cs typeface="Inter"/>
                <a:sym typeface="Inter"/>
              </a:rPr>
              <a:t> What does your AI model catch that rules miss?</a:t>
            </a:r>
            <a:br>
              <a:rPr b="0" i="0" lang="en-US" sz="1148" u="none" cap="none" strike="noStrike">
                <a:solidFill>
                  <a:srgbClr val="666666"/>
                </a:solidFill>
                <a:latin typeface="Inter"/>
                <a:ea typeface="Inter"/>
                <a:cs typeface="Inter"/>
                <a:sym typeface="Inter"/>
              </a:rPr>
            </a:br>
            <a:r>
              <a:rPr lang="en-US" sz="1148">
                <a:solidFill>
                  <a:srgbClr val="666666"/>
                </a:solidFill>
                <a:latin typeface="Inter"/>
                <a:ea typeface="Inter"/>
                <a:cs typeface="Inter"/>
                <a:sym typeface="Inter"/>
              </a:rPr>
              <a:t>Isolation Forest identifies unusual combinations of pressure, flow rate, and valve position—even when messages have valid authentication, fresh timestamps, and new sequence numbers.</a:t>
            </a:r>
            <a:endParaRPr sz="1461"/>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3"/>
          <p:cNvSpPr/>
          <p:nvPr/>
        </p:nvSpPr>
        <p:spPr>
          <a:xfrm>
            <a:off x="365760" y="274320"/>
            <a:ext cx="457200" cy="320100"/>
          </a:xfrm>
          <a:prstGeom prst="roundRect">
            <a:avLst>
              <a:gd fmla="val 16667" name="adj"/>
            </a:avLst>
          </a:prstGeom>
          <a:solidFill>
            <a:srgbClr val="A64D7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Medium"/>
                <a:ea typeface="Inter Medium"/>
                <a:cs typeface="Inter Medium"/>
                <a:sym typeface="Inter Medium"/>
              </a:rPr>
              <a:t>0</a:t>
            </a:r>
            <a:r>
              <a:rPr b="1" lang="en-US" sz="1000">
                <a:solidFill>
                  <a:srgbClr val="FFFFFF"/>
                </a:solidFill>
                <a:latin typeface="Inter Medium"/>
                <a:ea typeface="Inter Medium"/>
                <a:cs typeface="Inter Medium"/>
                <a:sym typeface="Inter Medium"/>
              </a:rPr>
              <a:t>9</a:t>
            </a:r>
            <a:endParaRPr/>
          </a:p>
        </p:txBody>
      </p:sp>
      <p:sp>
        <p:nvSpPr>
          <p:cNvPr id="216" name="Google Shape;216;p23"/>
          <p:cNvSpPr txBox="1"/>
          <p:nvPr/>
        </p:nvSpPr>
        <p:spPr>
          <a:xfrm>
            <a:off x="1005840" y="274320"/>
            <a:ext cx="7772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000000"/>
                </a:solidFill>
                <a:latin typeface="DM Serif Text"/>
                <a:ea typeface="DM Serif Text"/>
                <a:cs typeface="DM Serif Text"/>
                <a:sym typeface="DM Serif Text"/>
              </a:rPr>
              <a:t>AI Dashboard: All Three Layers Working</a:t>
            </a:r>
            <a:endParaRPr/>
          </a:p>
        </p:txBody>
      </p:sp>
      <p:sp>
        <p:nvSpPr>
          <p:cNvPr id="217" name="Google Shape;217;p23"/>
          <p:cNvSpPr txBox="1"/>
          <p:nvPr/>
        </p:nvSpPr>
        <p:spPr>
          <a:xfrm>
            <a:off x="1005840" y="914400"/>
            <a:ext cx="7772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666666"/>
                </a:solidFill>
                <a:latin typeface="Inter"/>
                <a:ea typeface="Inter"/>
                <a:cs typeface="Inter"/>
                <a:sym typeface="Inter"/>
              </a:rPr>
              <a:t>Rules and AI working together — green, orange, and red in real time.</a:t>
            </a:r>
            <a:endParaRPr/>
          </a:p>
        </p:txBody>
      </p:sp>
      <p:pic>
        <p:nvPicPr>
          <p:cNvPr id="218" name="Google Shape;218;p23" title="Screenshot 2026-10-10 at 7.30.07 PM.png"/>
          <p:cNvPicPr preferRelativeResize="0"/>
          <p:nvPr/>
        </p:nvPicPr>
        <p:blipFill rotWithShape="1">
          <a:blip r:embed="rId3">
            <a:alphaModFix/>
          </a:blip>
          <a:srcRect b="4517" l="1236" r="648" t="5328"/>
          <a:stretch/>
        </p:blipFill>
        <p:spPr>
          <a:xfrm>
            <a:off x="1254550" y="1191300"/>
            <a:ext cx="6499400" cy="3732202"/>
          </a:xfrm>
          <a:prstGeom prst="rect">
            <a:avLst/>
          </a:prstGeom>
          <a:solidFill>
            <a:srgbClr val="F5F5F5"/>
          </a:solidFill>
          <a:ln cap="flat" cmpd="sng" w="19050">
            <a:solidFill>
              <a:srgbClr val="666666"/>
            </a:solidFill>
            <a:prstDash val="dash"/>
            <a:round/>
            <a:headEnd len="sm" w="sm" type="none"/>
            <a:tailEnd len="sm" w="sm" type="none"/>
          </a:ln>
          <a:effectLst>
            <a:outerShdw blurRad="40000" rotWithShape="0" dir="5400000" dist="23000">
              <a:srgbClr val="000000">
                <a:alpha val="349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4"/>
          <p:cNvSpPr/>
          <p:nvPr/>
        </p:nvSpPr>
        <p:spPr>
          <a:xfrm>
            <a:off x="365760" y="274320"/>
            <a:ext cx="457200" cy="320040"/>
          </a:xfrm>
          <a:prstGeom prst="roundRect">
            <a:avLst>
              <a:gd fmla="val 16667" name="adj"/>
            </a:avLst>
          </a:prstGeom>
          <a:solidFill>
            <a:srgbClr val="A64D7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rgbClr val="FFFFFF"/>
                </a:solidFill>
                <a:latin typeface="Inter Medium"/>
                <a:ea typeface="Inter Medium"/>
                <a:cs typeface="Inter Medium"/>
                <a:sym typeface="Inter Medium"/>
              </a:rPr>
              <a:t>10</a:t>
            </a:r>
            <a:endParaRPr/>
          </a:p>
        </p:txBody>
      </p:sp>
      <p:sp>
        <p:nvSpPr>
          <p:cNvPr id="224" name="Google Shape;224;p24"/>
          <p:cNvSpPr txBox="1"/>
          <p:nvPr/>
        </p:nvSpPr>
        <p:spPr>
          <a:xfrm>
            <a:off x="1005840" y="274320"/>
            <a:ext cx="7772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000000"/>
                </a:solidFill>
                <a:latin typeface="Nunito"/>
                <a:ea typeface="Nunito"/>
                <a:cs typeface="Nunito"/>
                <a:sym typeface="Nunito"/>
              </a:rPr>
              <a:t>Key Insights</a:t>
            </a:r>
            <a:endParaRPr b="1">
              <a:latin typeface="Nunito"/>
              <a:ea typeface="Nunito"/>
              <a:cs typeface="Nunito"/>
              <a:sym typeface="Nunito"/>
            </a:endParaRPr>
          </a:p>
        </p:txBody>
      </p:sp>
      <p:sp>
        <p:nvSpPr>
          <p:cNvPr id="225" name="Google Shape;225;p24"/>
          <p:cNvSpPr txBox="1"/>
          <p:nvPr/>
        </p:nvSpPr>
        <p:spPr>
          <a:xfrm>
            <a:off x="1005840" y="914400"/>
            <a:ext cx="7772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200" u="none" cap="none" strike="noStrike">
                <a:solidFill>
                  <a:srgbClr val="666666"/>
                </a:solidFill>
                <a:latin typeface="Nunito"/>
                <a:ea typeface="Nunito"/>
                <a:cs typeface="Nunito"/>
                <a:sym typeface="Nunito"/>
              </a:rPr>
              <a:t>What this experiment revealed about IoT security.</a:t>
            </a:r>
            <a:endParaRPr>
              <a:latin typeface="Nunito"/>
              <a:ea typeface="Nunito"/>
              <a:cs typeface="Nunito"/>
              <a:sym typeface="Nunito"/>
            </a:endParaRPr>
          </a:p>
        </p:txBody>
      </p:sp>
      <p:sp>
        <p:nvSpPr>
          <p:cNvPr id="226" name="Google Shape;226;p24"/>
          <p:cNvSpPr/>
          <p:nvPr/>
        </p:nvSpPr>
        <p:spPr>
          <a:xfrm>
            <a:off x="731520" y="1417320"/>
            <a:ext cx="274320" cy="274320"/>
          </a:xfrm>
          <a:prstGeom prst="ellipse">
            <a:avLst/>
          </a:prstGeom>
          <a:solidFill>
            <a:srgbClr val="C27BA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a:ea typeface="Inter"/>
                <a:cs typeface="Inter"/>
                <a:sym typeface="Inter"/>
              </a:rPr>
              <a:t>1</a:t>
            </a:r>
            <a:endParaRPr/>
          </a:p>
        </p:txBody>
      </p:sp>
      <p:sp>
        <p:nvSpPr>
          <p:cNvPr id="227" name="Google Shape;227;p24"/>
          <p:cNvSpPr txBox="1"/>
          <p:nvPr/>
        </p:nvSpPr>
        <p:spPr>
          <a:xfrm>
            <a:off x="1188720" y="1371600"/>
            <a:ext cx="7315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000000"/>
                </a:solidFill>
                <a:latin typeface="Nunito"/>
                <a:ea typeface="Nunito"/>
                <a:cs typeface="Nunito"/>
                <a:sym typeface="Nunito"/>
              </a:rPr>
              <a:t>No single defense is enough</a:t>
            </a:r>
            <a:endParaRPr b="1">
              <a:latin typeface="Nunito"/>
              <a:ea typeface="Nunito"/>
              <a:cs typeface="Nunito"/>
              <a:sym typeface="Nunito"/>
            </a:endParaRPr>
          </a:p>
        </p:txBody>
      </p:sp>
      <p:sp>
        <p:nvSpPr>
          <p:cNvPr id="228" name="Google Shape;228;p24"/>
          <p:cNvSpPr txBox="1"/>
          <p:nvPr/>
        </p:nvSpPr>
        <p:spPr>
          <a:xfrm>
            <a:off x="1188720" y="1691640"/>
            <a:ext cx="73152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000" u="none" cap="none" strike="noStrike">
                <a:solidFill>
                  <a:srgbClr val="666666"/>
                </a:solidFill>
                <a:latin typeface="Nunito"/>
                <a:ea typeface="Nunito"/>
                <a:cs typeface="Nunito"/>
                <a:sym typeface="Nunito"/>
              </a:rPr>
              <a:t>mTLS stops outsiders but not compromised insiders. HMAC stops forgeries but not replays. You need all layers working together. Encryption, authentication, message integrity, and replay protection address different threats. A layered approach provides stronger security than relying on one control.</a:t>
            </a:r>
            <a:endParaRPr>
              <a:latin typeface="Nunito"/>
              <a:ea typeface="Nunito"/>
              <a:cs typeface="Nunito"/>
              <a:sym typeface="Nunito"/>
            </a:endParaRPr>
          </a:p>
        </p:txBody>
      </p:sp>
      <p:sp>
        <p:nvSpPr>
          <p:cNvPr id="229" name="Google Shape;229;p24"/>
          <p:cNvSpPr/>
          <p:nvPr/>
        </p:nvSpPr>
        <p:spPr>
          <a:xfrm>
            <a:off x="731520" y="2286000"/>
            <a:ext cx="274320" cy="274320"/>
          </a:xfrm>
          <a:prstGeom prst="ellipse">
            <a:avLst/>
          </a:prstGeom>
          <a:solidFill>
            <a:srgbClr val="C27BA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a:ea typeface="Inter"/>
                <a:cs typeface="Inter"/>
                <a:sym typeface="Inter"/>
              </a:rPr>
              <a:t>2</a:t>
            </a:r>
            <a:endParaRPr/>
          </a:p>
        </p:txBody>
      </p:sp>
      <p:sp>
        <p:nvSpPr>
          <p:cNvPr id="230" name="Google Shape;230;p24"/>
          <p:cNvSpPr txBox="1"/>
          <p:nvPr/>
        </p:nvSpPr>
        <p:spPr>
          <a:xfrm>
            <a:off x="1188720" y="2240280"/>
            <a:ext cx="7315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a:latin typeface="Nunito"/>
                <a:ea typeface="Nunito"/>
                <a:cs typeface="Nunito"/>
                <a:sym typeface="Nunito"/>
              </a:rPr>
              <a:t>Security must be tested, not assumed.</a:t>
            </a:r>
            <a:endParaRPr b="1">
              <a:latin typeface="Nunito"/>
              <a:ea typeface="Nunito"/>
              <a:cs typeface="Nunito"/>
              <a:sym typeface="Nunito"/>
            </a:endParaRPr>
          </a:p>
        </p:txBody>
      </p:sp>
      <p:sp>
        <p:nvSpPr>
          <p:cNvPr id="231" name="Google Shape;231;p24"/>
          <p:cNvSpPr txBox="1"/>
          <p:nvPr/>
        </p:nvSpPr>
        <p:spPr>
          <a:xfrm>
            <a:off x="1188720" y="2560320"/>
            <a:ext cx="73152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666666"/>
                </a:solidFill>
                <a:latin typeface="Nunito"/>
                <a:ea typeface="Nunito"/>
                <a:cs typeface="Nunito"/>
                <a:sym typeface="Nunito"/>
              </a:rPr>
              <a:t>Simulating attacks helped identify vulnerabilities and verify whether the implemented defenses actually worked.</a:t>
            </a:r>
            <a:endParaRPr>
              <a:latin typeface="Nunito"/>
              <a:ea typeface="Nunito"/>
              <a:cs typeface="Nunito"/>
              <a:sym typeface="Nunito"/>
            </a:endParaRPr>
          </a:p>
        </p:txBody>
      </p:sp>
      <p:sp>
        <p:nvSpPr>
          <p:cNvPr id="232" name="Google Shape;232;p24"/>
          <p:cNvSpPr/>
          <p:nvPr/>
        </p:nvSpPr>
        <p:spPr>
          <a:xfrm>
            <a:off x="731520" y="3154680"/>
            <a:ext cx="274320" cy="274320"/>
          </a:xfrm>
          <a:prstGeom prst="ellipse">
            <a:avLst/>
          </a:prstGeom>
          <a:solidFill>
            <a:srgbClr val="C27BA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a:ea typeface="Inter"/>
                <a:cs typeface="Inter"/>
                <a:sym typeface="Inter"/>
              </a:rPr>
              <a:t>3</a:t>
            </a:r>
            <a:endParaRPr/>
          </a:p>
        </p:txBody>
      </p:sp>
      <p:sp>
        <p:nvSpPr>
          <p:cNvPr id="233" name="Google Shape;233;p24"/>
          <p:cNvSpPr txBox="1"/>
          <p:nvPr/>
        </p:nvSpPr>
        <p:spPr>
          <a:xfrm>
            <a:off x="1188720" y="3108960"/>
            <a:ext cx="7315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a:latin typeface="Nunito"/>
                <a:ea typeface="Nunito"/>
                <a:cs typeface="Nunito"/>
                <a:sym typeface="Nunito"/>
              </a:rPr>
              <a:t>Small performance costs can deliver meaningful security benefits.</a:t>
            </a:r>
            <a:endParaRPr b="1">
              <a:latin typeface="Nunito"/>
              <a:ea typeface="Nunito"/>
              <a:cs typeface="Nunito"/>
              <a:sym typeface="Nunito"/>
            </a:endParaRPr>
          </a:p>
        </p:txBody>
      </p:sp>
      <p:sp>
        <p:nvSpPr>
          <p:cNvPr id="234" name="Google Shape;234;p24"/>
          <p:cNvSpPr txBox="1"/>
          <p:nvPr/>
        </p:nvSpPr>
        <p:spPr>
          <a:xfrm>
            <a:off x="1188720" y="3429000"/>
            <a:ext cx="73152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666666"/>
                </a:solidFill>
                <a:latin typeface="Nunito"/>
                <a:ea typeface="Nunito"/>
                <a:cs typeface="Nunito"/>
                <a:sym typeface="Nunito"/>
              </a:rPr>
              <a:t>The TLS benchmark showed approximately 0.23% average latency overhead, while mTLS added approximately 3.8% connection-time overhead in the measured tests.</a:t>
            </a:r>
            <a:endParaRPr>
              <a:latin typeface="Nunito"/>
              <a:ea typeface="Nunito"/>
              <a:cs typeface="Nunito"/>
              <a:sym typeface="Nunito"/>
            </a:endParaRPr>
          </a:p>
        </p:txBody>
      </p:sp>
      <p:sp>
        <p:nvSpPr>
          <p:cNvPr id="235" name="Google Shape;235;p24"/>
          <p:cNvSpPr/>
          <p:nvPr/>
        </p:nvSpPr>
        <p:spPr>
          <a:xfrm>
            <a:off x="731520" y="4023359"/>
            <a:ext cx="274320" cy="274320"/>
          </a:xfrm>
          <a:prstGeom prst="ellipse">
            <a:avLst/>
          </a:prstGeom>
          <a:solidFill>
            <a:srgbClr val="C27BA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a:ea typeface="Inter"/>
                <a:cs typeface="Inter"/>
                <a:sym typeface="Inter"/>
              </a:rPr>
              <a:t>4</a:t>
            </a:r>
            <a:endParaRPr/>
          </a:p>
        </p:txBody>
      </p:sp>
      <p:sp>
        <p:nvSpPr>
          <p:cNvPr id="236" name="Google Shape;236;p24"/>
          <p:cNvSpPr txBox="1"/>
          <p:nvPr/>
        </p:nvSpPr>
        <p:spPr>
          <a:xfrm>
            <a:off x="1188720" y="3977639"/>
            <a:ext cx="7315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a:latin typeface="Nunito"/>
                <a:ea typeface="Nunito"/>
                <a:cs typeface="Nunito"/>
                <a:sym typeface="Nunito"/>
              </a:rPr>
              <a:t>Real-time visibility improves security response.</a:t>
            </a:r>
            <a:endParaRPr b="1">
              <a:latin typeface="Nunito"/>
              <a:ea typeface="Nunito"/>
              <a:cs typeface="Nunito"/>
              <a:sym typeface="Nunito"/>
            </a:endParaRPr>
          </a:p>
        </p:txBody>
      </p:sp>
      <p:sp>
        <p:nvSpPr>
          <p:cNvPr id="237" name="Google Shape;237;p24"/>
          <p:cNvSpPr txBox="1"/>
          <p:nvPr/>
        </p:nvSpPr>
        <p:spPr>
          <a:xfrm>
            <a:off x="1188720" y="4297679"/>
            <a:ext cx="73152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666666"/>
                </a:solidFill>
                <a:latin typeface="Nunito"/>
                <a:ea typeface="Nunito"/>
                <a:cs typeface="Nunito"/>
                <a:sym typeface="Nunito"/>
              </a:rPr>
              <a:t>The dashboard made it easier to observe sensor activity, identify rejected messages, and demonstrate attack detection as events occurred.</a:t>
            </a:r>
            <a:endParaRPr>
              <a:latin typeface="Nunito"/>
              <a:ea typeface="Nunito"/>
              <a:cs typeface="Nunito"/>
              <a:sym typeface="Nuni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5"/>
          <p:cNvSpPr/>
          <p:nvPr/>
        </p:nvSpPr>
        <p:spPr>
          <a:xfrm>
            <a:off x="365760" y="274320"/>
            <a:ext cx="457200" cy="320040"/>
          </a:xfrm>
          <a:prstGeom prst="roundRect">
            <a:avLst>
              <a:gd fmla="val 16667" name="adj"/>
            </a:avLst>
          </a:prstGeom>
          <a:solidFill>
            <a:srgbClr val="A64D7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rgbClr val="FFFFFF"/>
                </a:solidFill>
                <a:latin typeface="Inter Medium"/>
                <a:ea typeface="Inter Medium"/>
                <a:cs typeface="Inter Medium"/>
                <a:sym typeface="Inter Medium"/>
              </a:rPr>
              <a:t>11</a:t>
            </a:r>
            <a:endParaRPr/>
          </a:p>
        </p:txBody>
      </p:sp>
      <p:sp>
        <p:nvSpPr>
          <p:cNvPr id="243" name="Google Shape;243;p25"/>
          <p:cNvSpPr txBox="1"/>
          <p:nvPr/>
        </p:nvSpPr>
        <p:spPr>
          <a:xfrm>
            <a:off x="1005840" y="274320"/>
            <a:ext cx="7772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000000"/>
                </a:solidFill>
                <a:latin typeface="Nunito"/>
                <a:ea typeface="Nunito"/>
                <a:cs typeface="Nunito"/>
                <a:sym typeface="Nunito"/>
              </a:rPr>
              <a:t>Recommendations for Grand Marina</a:t>
            </a:r>
            <a:endParaRPr b="1">
              <a:latin typeface="Nunito"/>
              <a:ea typeface="Nunito"/>
              <a:cs typeface="Nunito"/>
              <a:sym typeface="Nunito"/>
            </a:endParaRPr>
          </a:p>
        </p:txBody>
      </p:sp>
      <p:sp>
        <p:nvSpPr>
          <p:cNvPr id="244" name="Google Shape;244;p25"/>
          <p:cNvSpPr txBox="1"/>
          <p:nvPr/>
        </p:nvSpPr>
        <p:spPr>
          <a:xfrm>
            <a:off x="1099840" y="915363"/>
            <a:ext cx="7772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200" u="none" cap="none" strike="noStrike">
                <a:solidFill>
                  <a:srgbClr val="666666"/>
                </a:solidFill>
                <a:latin typeface="Nunito"/>
                <a:ea typeface="Nunito"/>
                <a:cs typeface="Nunito"/>
                <a:sym typeface="Nunito"/>
              </a:rPr>
              <a:t>What should happen next to secure the IoT infrastructure at scale.</a:t>
            </a:r>
            <a:endParaRPr>
              <a:latin typeface="Nunito"/>
              <a:ea typeface="Nunito"/>
              <a:cs typeface="Nunito"/>
              <a:sym typeface="Nunito"/>
            </a:endParaRPr>
          </a:p>
        </p:txBody>
      </p:sp>
      <p:sp>
        <p:nvSpPr>
          <p:cNvPr id="245" name="Google Shape;245;p25"/>
          <p:cNvSpPr/>
          <p:nvPr/>
        </p:nvSpPr>
        <p:spPr>
          <a:xfrm>
            <a:off x="731520" y="1417320"/>
            <a:ext cx="274320" cy="274320"/>
          </a:xfrm>
          <a:prstGeom prst="ellipse">
            <a:avLst/>
          </a:prstGeom>
          <a:solidFill>
            <a:srgbClr val="C27BA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a:ea typeface="Inter"/>
                <a:cs typeface="Inter"/>
                <a:sym typeface="Inter"/>
              </a:rPr>
              <a:t>1</a:t>
            </a:r>
            <a:endParaRPr/>
          </a:p>
        </p:txBody>
      </p:sp>
      <p:sp>
        <p:nvSpPr>
          <p:cNvPr id="246" name="Google Shape;246;p25"/>
          <p:cNvSpPr txBox="1"/>
          <p:nvPr/>
        </p:nvSpPr>
        <p:spPr>
          <a:xfrm>
            <a:off x="1188720" y="1371600"/>
            <a:ext cx="7315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a:latin typeface="Nunito"/>
                <a:ea typeface="Nunito"/>
                <a:cs typeface="Nunito"/>
                <a:sym typeface="Nunito"/>
              </a:rPr>
              <a:t>Deploy secure communication across all IoT devices.</a:t>
            </a:r>
            <a:endParaRPr b="1">
              <a:latin typeface="Nunito"/>
              <a:ea typeface="Nunito"/>
              <a:cs typeface="Nunito"/>
              <a:sym typeface="Nunito"/>
            </a:endParaRPr>
          </a:p>
        </p:txBody>
      </p:sp>
      <p:sp>
        <p:nvSpPr>
          <p:cNvPr id="247" name="Google Shape;247;p25"/>
          <p:cNvSpPr txBox="1"/>
          <p:nvPr/>
        </p:nvSpPr>
        <p:spPr>
          <a:xfrm>
            <a:off x="1188720" y="1691640"/>
            <a:ext cx="73152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666666"/>
                </a:solidFill>
                <a:latin typeface="Nunito"/>
                <a:ea typeface="Nunito"/>
                <a:cs typeface="Nunito"/>
                <a:sym typeface="Nunito"/>
              </a:rPr>
              <a:t>Use TLS and mTLS for all sensor-to-broker connections, ensuring that devices and the broker authenticate each other.</a:t>
            </a:r>
            <a:endParaRPr>
              <a:latin typeface="Nunito"/>
              <a:ea typeface="Nunito"/>
              <a:cs typeface="Nunito"/>
              <a:sym typeface="Nunito"/>
            </a:endParaRPr>
          </a:p>
        </p:txBody>
      </p:sp>
      <p:sp>
        <p:nvSpPr>
          <p:cNvPr id="248" name="Google Shape;248;p25"/>
          <p:cNvSpPr/>
          <p:nvPr/>
        </p:nvSpPr>
        <p:spPr>
          <a:xfrm>
            <a:off x="731520" y="2286000"/>
            <a:ext cx="274320" cy="274320"/>
          </a:xfrm>
          <a:prstGeom prst="ellipse">
            <a:avLst/>
          </a:prstGeom>
          <a:solidFill>
            <a:srgbClr val="C27BA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a:ea typeface="Inter"/>
                <a:cs typeface="Inter"/>
                <a:sym typeface="Inter"/>
              </a:rPr>
              <a:t>2</a:t>
            </a:r>
            <a:endParaRPr/>
          </a:p>
        </p:txBody>
      </p:sp>
      <p:sp>
        <p:nvSpPr>
          <p:cNvPr id="249" name="Google Shape;249;p25"/>
          <p:cNvSpPr txBox="1"/>
          <p:nvPr/>
        </p:nvSpPr>
        <p:spPr>
          <a:xfrm>
            <a:off x="1188720" y="2240280"/>
            <a:ext cx="7315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a:latin typeface="Nunito"/>
                <a:ea typeface="Nunito"/>
                <a:cs typeface="Nunito"/>
                <a:sym typeface="Nunito"/>
              </a:rPr>
              <a:t>Establish certificate lifecycle management.</a:t>
            </a:r>
            <a:endParaRPr b="1">
              <a:latin typeface="Nunito"/>
              <a:ea typeface="Nunito"/>
              <a:cs typeface="Nunito"/>
              <a:sym typeface="Nunito"/>
            </a:endParaRPr>
          </a:p>
        </p:txBody>
      </p:sp>
      <p:sp>
        <p:nvSpPr>
          <p:cNvPr id="250" name="Google Shape;250;p25"/>
          <p:cNvSpPr txBox="1"/>
          <p:nvPr/>
        </p:nvSpPr>
        <p:spPr>
          <a:xfrm>
            <a:off x="1188720" y="2560320"/>
            <a:ext cx="73152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666666"/>
                </a:solidFill>
                <a:latin typeface="Nunito"/>
                <a:ea typeface="Nunito"/>
                <a:cs typeface="Nunito"/>
                <a:sym typeface="Nunito"/>
              </a:rPr>
              <a:t>Maintain a device certificate inventory, rotate certificates before expiry, and promptly revoke credentials for stolen or compromised devices.</a:t>
            </a:r>
            <a:endParaRPr>
              <a:latin typeface="Nunito"/>
              <a:ea typeface="Nunito"/>
              <a:cs typeface="Nunito"/>
              <a:sym typeface="Nunito"/>
            </a:endParaRPr>
          </a:p>
        </p:txBody>
      </p:sp>
      <p:sp>
        <p:nvSpPr>
          <p:cNvPr id="251" name="Google Shape;251;p25"/>
          <p:cNvSpPr/>
          <p:nvPr/>
        </p:nvSpPr>
        <p:spPr>
          <a:xfrm>
            <a:off x="731520" y="3154680"/>
            <a:ext cx="274320" cy="274320"/>
          </a:xfrm>
          <a:prstGeom prst="ellipse">
            <a:avLst/>
          </a:prstGeom>
          <a:solidFill>
            <a:srgbClr val="C27BA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a:ea typeface="Inter"/>
                <a:cs typeface="Inter"/>
                <a:sym typeface="Inter"/>
              </a:rPr>
              <a:t>3</a:t>
            </a:r>
            <a:endParaRPr/>
          </a:p>
        </p:txBody>
      </p:sp>
      <p:sp>
        <p:nvSpPr>
          <p:cNvPr id="252" name="Google Shape;252;p25"/>
          <p:cNvSpPr txBox="1"/>
          <p:nvPr/>
        </p:nvSpPr>
        <p:spPr>
          <a:xfrm>
            <a:off x="1188720" y="3108960"/>
            <a:ext cx="7315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a:latin typeface="Nunito"/>
                <a:ea typeface="Nunito"/>
                <a:cs typeface="Nunito"/>
                <a:sym typeface="Nunito"/>
              </a:rPr>
              <a:t>Implement continuous monitoring and incident response.</a:t>
            </a:r>
            <a:endParaRPr b="1">
              <a:latin typeface="Nunito"/>
              <a:ea typeface="Nunito"/>
              <a:cs typeface="Nunito"/>
              <a:sym typeface="Nunito"/>
            </a:endParaRPr>
          </a:p>
        </p:txBody>
      </p:sp>
      <p:sp>
        <p:nvSpPr>
          <p:cNvPr id="253" name="Google Shape;253;p25"/>
          <p:cNvSpPr txBox="1"/>
          <p:nvPr/>
        </p:nvSpPr>
        <p:spPr>
          <a:xfrm>
            <a:off x="1188720" y="3429000"/>
            <a:ext cx="73152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666666"/>
                </a:solidFill>
                <a:latin typeface="Nunito"/>
                <a:ea typeface="Nunito"/>
                <a:cs typeface="Nunito"/>
                <a:sym typeface="Nunito"/>
              </a:rPr>
              <a:t>Monitor authentication failures, rejected messages, unusual sensor readings, and suspected attacks. Establish clear procedures for investigating and responding to incidents.</a:t>
            </a:r>
            <a:endParaRPr>
              <a:latin typeface="Nunito"/>
              <a:ea typeface="Nunito"/>
              <a:cs typeface="Nunito"/>
              <a:sym typeface="Nunito"/>
            </a:endParaRPr>
          </a:p>
        </p:txBody>
      </p:sp>
      <p:sp>
        <p:nvSpPr>
          <p:cNvPr id="254" name="Google Shape;254;p25"/>
          <p:cNvSpPr/>
          <p:nvPr/>
        </p:nvSpPr>
        <p:spPr>
          <a:xfrm>
            <a:off x="731520" y="4023359"/>
            <a:ext cx="274320" cy="274320"/>
          </a:xfrm>
          <a:prstGeom prst="ellipse">
            <a:avLst/>
          </a:prstGeom>
          <a:solidFill>
            <a:srgbClr val="C27BA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a:ea typeface="Inter"/>
                <a:cs typeface="Inter"/>
                <a:sym typeface="Inter"/>
              </a:rPr>
              <a:t>4</a:t>
            </a:r>
            <a:endParaRPr/>
          </a:p>
        </p:txBody>
      </p:sp>
      <p:sp>
        <p:nvSpPr>
          <p:cNvPr id="255" name="Google Shape;255;p25"/>
          <p:cNvSpPr txBox="1"/>
          <p:nvPr/>
        </p:nvSpPr>
        <p:spPr>
          <a:xfrm>
            <a:off x="1188720" y="3977639"/>
            <a:ext cx="7315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a:latin typeface="Nunito"/>
                <a:ea typeface="Nunito"/>
                <a:cs typeface="Nunito"/>
                <a:sym typeface="Nunito"/>
              </a:rPr>
              <a:t>Conduct regular security assessments.</a:t>
            </a:r>
            <a:endParaRPr b="1">
              <a:latin typeface="Nunito"/>
              <a:ea typeface="Nunito"/>
              <a:cs typeface="Nunito"/>
              <a:sym typeface="Nunito"/>
            </a:endParaRPr>
          </a:p>
        </p:txBody>
      </p:sp>
      <p:sp>
        <p:nvSpPr>
          <p:cNvPr id="256" name="Google Shape;256;p25"/>
          <p:cNvSpPr txBox="1"/>
          <p:nvPr/>
        </p:nvSpPr>
        <p:spPr>
          <a:xfrm>
            <a:off x="1188720" y="4297679"/>
            <a:ext cx="73152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666666"/>
                </a:solidFill>
                <a:latin typeface="Nunito"/>
                <a:ea typeface="Nunito"/>
                <a:cs typeface="Nunito"/>
                <a:sym typeface="Nunito"/>
              </a:rPr>
              <a:t>Repeat penetration tests, replay simulations, and performance benchmarks after major system changes. Validate that defenses remain effective before expanding deployment.</a:t>
            </a:r>
            <a:endParaRPr>
              <a:latin typeface="Nunito"/>
              <a:ea typeface="Nunito"/>
              <a:cs typeface="Nunito"/>
              <a:sym typeface="Nuni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6"/>
          <p:cNvSpPr/>
          <p:nvPr/>
        </p:nvSpPr>
        <p:spPr>
          <a:xfrm>
            <a:off x="365760" y="274320"/>
            <a:ext cx="457200" cy="320100"/>
          </a:xfrm>
          <a:prstGeom prst="roundRect">
            <a:avLst>
              <a:gd fmla="val 16667" name="adj"/>
            </a:avLst>
          </a:prstGeom>
          <a:solidFill>
            <a:srgbClr val="A64D7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rgbClr val="FFFFFF"/>
                </a:solidFill>
                <a:latin typeface="Inter Medium"/>
                <a:ea typeface="Inter Medium"/>
                <a:cs typeface="Inter Medium"/>
                <a:sym typeface="Inter Medium"/>
              </a:rPr>
              <a:t>12</a:t>
            </a:r>
            <a:endParaRPr/>
          </a:p>
        </p:txBody>
      </p:sp>
      <p:sp>
        <p:nvSpPr>
          <p:cNvPr id="262" name="Google Shape;262;p26"/>
          <p:cNvSpPr txBox="1"/>
          <p:nvPr/>
        </p:nvSpPr>
        <p:spPr>
          <a:xfrm>
            <a:off x="1005840" y="274320"/>
            <a:ext cx="7772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latin typeface="Nunito"/>
                <a:ea typeface="Nunito"/>
                <a:cs typeface="Nunito"/>
                <a:sym typeface="Nunito"/>
              </a:rPr>
              <a:t>Securing Every Message. Protecting Every Device.</a:t>
            </a:r>
            <a:endParaRPr b="1">
              <a:latin typeface="Nunito"/>
              <a:ea typeface="Nunito"/>
              <a:cs typeface="Nunito"/>
              <a:sym typeface="Nunito"/>
            </a:endParaRPr>
          </a:p>
        </p:txBody>
      </p:sp>
      <p:sp>
        <p:nvSpPr>
          <p:cNvPr id="263" name="Google Shape;263;p26"/>
          <p:cNvSpPr txBox="1"/>
          <p:nvPr/>
        </p:nvSpPr>
        <p:spPr>
          <a:xfrm>
            <a:off x="1005840" y="736025"/>
            <a:ext cx="7772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666666"/>
                </a:solidFill>
                <a:latin typeface="Nunito"/>
                <a:ea typeface="Nunito"/>
                <a:cs typeface="Nunito"/>
                <a:sym typeface="Nunito"/>
              </a:rPr>
              <a:t>The project progressed from identifying vulnerabilities in an IoT water monitoring system to implementing and testing a layered security pipeline.</a:t>
            </a:r>
            <a:endParaRPr>
              <a:latin typeface="Nunito"/>
              <a:ea typeface="Nunito"/>
              <a:cs typeface="Nunito"/>
              <a:sym typeface="Nunito"/>
            </a:endParaRPr>
          </a:p>
        </p:txBody>
      </p:sp>
      <p:sp>
        <p:nvSpPr>
          <p:cNvPr id="264" name="Google Shape;264;p26"/>
          <p:cNvSpPr/>
          <p:nvPr/>
        </p:nvSpPr>
        <p:spPr>
          <a:xfrm>
            <a:off x="731520" y="1417320"/>
            <a:ext cx="274200" cy="274200"/>
          </a:xfrm>
          <a:prstGeom prst="ellipse">
            <a:avLst/>
          </a:prstGeom>
          <a:solidFill>
            <a:srgbClr val="C27BA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a:ea typeface="Inter"/>
                <a:cs typeface="Inter"/>
                <a:sym typeface="Inter"/>
              </a:rPr>
              <a:t>1</a:t>
            </a:r>
            <a:endParaRPr/>
          </a:p>
        </p:txBody>
      </p:sp>
      <p:sp>
        <p:nvSpPr>
          <p:cNvPr id="265" name="Google Shape;265;p26"/>
          <p:cNvSpPr txBox="1"/>
          <p:nvPr/>
        </p:nvSpPr>
        <p:spPr>
          <a:xfrm>
            <a:off x="1188720" y="1355425"/>
            <a:ext cx="73152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a:latin typeface="Nunito"/>
                <a:ea typeface="Nunito"/>
                <a:cs typeface="Nunito"/>
                <a:sym typeface="Nunito"/>
              </a:rPr>
              <a:t>Identified risks involving eavesdropping, data tampering, unauthorized access, and replay attacks.</a:t>
            </a:r>
            <a:endParaRPr b="1">
              <a:latin typeface="Nunito"/>
              <a:ea typeface="Nunito"/>
              <a:cs typeface="Nunito"/>
              <a:sym typeface="Nunito"/>
            </a:endParaRPr>
          </a:p>
        </p:txBody>
      </p:sp>
      <p:sp>
        <p:nvSpPr>
          <p:cNvPr id="266" name="Google Shape;266;p26"/>
          <p:cNvSpPr/>
          <p:nvPr/>
        </p:nvSpPr>
        <p:spPr>
          <a:xfrm>
            <a:off x="731520" y="1966075"/>
            <a:ext cx="274200" cy="274200"/>
          </a:xfrm>
          <a:prstGeom prst="ellipse">
            <a:avLst/>
          </a:prstGeom>
          <a:solidFill>
            <a:srgbClr val="C27BA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a:ea typeface="Inter"/>
                <a:cs typeface="Inter"/>
                <a:sym typeface="Inter"/>
              </a:rPr>
              <a:t>2</a:t>
            </a:r>
            <a:endParaRPr/>
          </a:p>
        </p:txBody>
      </p:sp>
      <p:sp>
        <p:nvSpPr>
          <p:cNvPr id="267" name="Google Shape;267;p26"/>
          <p:cNvSpPr txBox="1"/>
          <p:nvPr/>
        </p:nvSpPr>
        <p:spPr>
          <a:xfrm>
            <a:off x="1188720" y="1949280"/>
            <a:ext cx="7315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a:latin typeface="Nunito"/>
                <a:ea typeface="Nunito"/>
                <a:cs typeface="Nunito"/>
                <a:sym typeface="Nunito"/>
              </a:rPr>
              <a:t>Implemented TLS, mTLS, HMAC, timestamps, and sequence counters.</a:t>
            </a:r>
            <a:endParaRPr b="1">
              <a:latin typeface="Nunito"/>
              <a:ea typeface="Nunito"/>
              <a:cs typeface="Nunito"/>
              <a:sym typeface="Nunito"/>
            </a:endParaRPr>
          </a:p>
        </p:txBody>
      </p:sp>
      <p:sp>
        <p:nvSpPr>
          <p:cNvPr id="268" name="Google Shape;268;p26"/>
          <p:cNvSpPr/>
          <p:nvPr/>
        </p:nvSpPr>
        <p:spPr>
          <a:xfrm>
            <a:off x="731520" y="2514830"/>
            <a:ext cx="274200" cy="274200"/>
          </a:xfrm>
          <a:prstGeom prst="ellipse">
            <a:avLst/>
          </a:prstGeom>
          <a:solidFill>
            <a:srgbClr val="C27BA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a:ea typeface="Inter"/>
                <a:cs typeface="Inter"/>
                <a:sym typeface="Inter"/>
              </a:rPr>
              <a:t>3</a:t>
            </a:r>
            <a:endParaRPr/>
          </a:p>
        </p:txBody>
      </p:sp>
      <p:sp>
        <p:nvSpPr>
          <p:cNvPr id="269" name="Google Shape;269;p26"/>
          <p:cNvSpPr txBox="1"/>
          <p:nvPr/>
        </p:nvSpPr>
        <p:spPr>
          <a:xfrm>
            <a:off x="1188720" y="2498035"/>
            <a:ext cx="7315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a:latin typeface="Nunito"/>
                <a:ea typeface="Nunito"/>
                <a:cs typeface="Nunito"/>
                <a:sym typeface="Nunito"/>
              </a:rPr>
              <a:t>Tested security controls through simulated attacks and performance experiments.</a:t>
            </a:r>
            <a:endParaRPr b="1">
              <a:latin typeface="Nunito"/>
              <a:ea typeface="Nunito"/>
              <a:cs typeface="Nunito"/>
              <a:sym typeface="Nunito"/>
            </a:endParaRPr>
          </a:p>
        </p:txBody>
      </p:sp>
      <p:sp>
        <p:nvSpPr>
          <p:cNvPr id="270" name="Google Shape;270;p26"/>
          <p:cNvSpPr/>
          <p:nvPr/>
        </p:nvSpPr>
        <p:spPr>
          <a:xfrm>
            <a:off x="731520" y="3063584"/>
            <a:ext cx="274200" cy="274200"/>
          </a:xfrm>
          <a:prstGeom prst="ellipse">
            <a:avLst/>
          </a:prstGeom>
          <a:solidFill>
            <a:srgbClr val="C27BA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a:ea typeface="Inter"/>
                <a:cs typeface="Inter"/>
                <a:sym typeface="Inter"/>
              </a:rPr>
              <a:t>4</a:t>
            </a:r>
            <a:endParaRPr/>
          </a:p>
        </p:txBody>
      </p:sp>
      <p:sp>
        <p:nvSpPr>
          <p:cNvPr id="271" name="Google Shape;271;p26"/>
          <p:cNvSpPr txBox="1"/>
          <p:nvPr/>
        </p:nvSpPr>
        <p:spPr>
          <a:xfrm>
            <a:off x="1188720" y="3046764"/>
            <a:ext cx="7315200" cy="3078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1200"/>
              </a:spcAft>
              <a:buNone/>
            </a:pPr>
            <a:r>
              <a:rPr b="1" lang="en-US">
                <a:latin typeface="Nunito"/>
                <a:ea typeface="Nunito"/>
                <a:cs typeface="Nunito"/>
                <a:sym typeface="Nunito"/>
              </a:rPr>
              <a:t>Developed a real-time dashboard to visualize sensor activity and security events.</a:t>
            </a:r>
            <a:endParaRPr b="1">
              <a:latin typeface="Nunito"/>
              <a:ea typeface="Nunito"/>
              <a:cs typeface="Nunito"/>
              <a:sym typeface="Nunito"/>
            </a:endParaRPr>
          </a:p>
        </p:txBody>
      </p:sp>
      <p:sp>
        <p:nvSpPr>
          <p:cNvPr id="272" name="Google Shape;272;p26"/>
          <p:cNvSpPr/>
          <p:nvPr/>
        </p:nvSpPr>
        <p:spPr>
          <a:xfrm>
            <a:off x="809325" y="3578075"/>
            <a:ext cx="7694700" cy="1171500"/>
          </a:xfrm>
          <a:prstGeom prst="roundRect">
            <a:avLst>
              <a:gd fmla="val 16667" name="adj"/>
            </a:avLst>
          </a:prstGeom>
          <a:solidFill>
            <a:srgbClr val="D5A6B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latin typeface="Nunito"/>
                <a:ea typeface="Nunito"/>
                <a:cs typeface="Nunito"/>
                <a:sym typeface="Nunito"/>
              </a:rPr>
              <a:t>Final takeaway</a:t>
            </a:r>
            <a:endParaRPr>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US">
                <a:latin typeface="Nunito"/>
                <a:ea typeface="Nunito"/>
                <a:cs typeface="Nunito"/>
                <a:sym typeface="Nunito"/>
              </a:rPr>
              <a:t>A secure IoT system requires more than encrypted communication. It also needs trusted devices, verified messages, replay protection, continuous monitoring, and regular testing.</a:t>
            </a:r>
            <a:endParaRPr>
              <a:latin typeface="Nunito"/>
              <a:ea typeface="Nunito"/>
              <a:cs typeface="Nunito"/>
              <a:sym typeface="Nunito"/>
            </a:endParaRPr>
          </a:p>
          <a:p>
            <a:pPr indent="0" lvl="0" marL="0" rtl="0" algn="ctr">
              <a:spcBef>
                <a:spcPts val="1200"/>
              </a:spcBef>
              <a:spcAft>
                <a:spcPts val="0"/>
              </a:spcAft>
              <a:buNone/>
            </a:pPr>
            <a:r>
              <a:t/>
            </a:r>
            <a:endParaRPr>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6" name="Shape 276"/>
        <p:cNvGrpSpPr/>
        <p:nvPr/>
      </p:nvGrpSpPr>
      <p:grpSpPr>
        <a:xfrm>
          <a:off x="0" y="0"/>
          <a:ext cx="0" cy="0"/>
          <a:chOff x="0" y="0"/>
          <a:chExt cx="0" cy="0"/>
        </a:xfrm>
      </p:grpSpPr>
      <p:sp>
        <p:nvSpPr>
          <p:cNvPr id="277" name="Google Shape;277;p27"/>
          <p:cNvSpPr txBox="1"/>
          <p:nvPr/>
        </p:nvSpPr>
        <p:spPr>
          <a:xfrm>
            <a:off x="1371600" y="1645920"/>
            <a:ext cx="6400800" cy="708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4000" u="none" cap="none" strike="noStrike">
                <a:solidFill>
                  <a:schemeClr val="dk1"/>
                </a:solidFill>
                <a:latin typeface="DM Serif Text"/>
                <a:ea typeface="DM Serif Text"/>
                <a:cs typeface="DM Serif Text"/>
                <a:sym typeface="DM Serif Text"/>
              </a:rPr>
              <a:t>Questions?</a:t>
            </a:r>
            <a:endParaRPr>
              <a:solidFill>
                <a:schemeClr val="dk1"/>
              </a:solidFill>
            </a:endParaRPr>
          </a:p>
        </p:txBody>
      </p:sp>
      <p:sp>
        <p:nvSpPr>
          <p:cNvPr id="278" name="Google Shape;278;p27"/>
          <p:cNvSpPr/>
          <p:nvPr/>
        </p:nvSpPr>
        <p:spPr>
          <a:xfrm>
            <a:off x="3200400" y="2651760"/>
            <a:ext cx="2743200" cy="25400"/>
          </a:xfrm>
          <a:prstGeom prst="rect">
            <a:avLst/>
          </a:prstGeom>
          <a:solidFill>
            <a:srgbClr val="1155C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9" name="Google Shape;279;p27"/>
          <p:cNvSpPr txBox="1"/>
          <p:nvPr/>
        </p:nvSpPr>
        <p:spPr>
          <a:xfrm>
            <a:off x="1371600" y="3017520"/>
            <a:ext cx="64008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pic>
        <p:nvPicPr>
          <p:cNvPr id="280" name="Google Shape;280;p27" title="hydroficient.png"/>
          <p:cNvPicPr preferRelativeResize="0"/>
          <p:nvPr/>
        </p:nvPicPr>
        <p:blipFill rotWithShape="1">
          <a:blip r:embed="rId3">
            <a:alphaModFix/>
          </a:blip>
          <a:srcRect b="43162" l="10235" r="10670" t="43073"/>
          <a:stretch/>
        </p:blipFill>
        <p:spPr>
          <a:xfrm>
            <a:off x="5076050" y="4435500"/>
            <a:ext cx="4067950" cy="708000"/>
          </a:xfrm>
          <a:prstGeom prst="rect">
            <a:avLst/>
          </a:prstGeom>
          <a:noFill/>
          <a:ln>
            <a:noFill/>
          </a:ln>
        </p:spPr>
      </p:pic>
      <p:pic>
        <p:nvPicPr>
          <p:cNvPr id="281" name="Google Shape;281;p27" title="hydroficient logo.png"/>
          <p:cNvPicPr preferRelativeResize="0"/>
          <p:nvPr/>
        </p:nvPicPr>
        <p:blipFill>
          <a:blip r:embed="rId4">
            <a:alphaModFix/>
          </a:blip>
          <a:stretch>
            <a:fillRect/>
          </a:stretch>
        </p:blipFill>
        <p:spPr>
          <a:xfrm>
            <a:off x="1371600" y="1253375"/>
            <a:ext cx="1200151" cy="120015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